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embeddedFontLst>
    <p:embeddedFont>
      <p:font typeface="Lato"/>
      <p:regular r:id="rId29"/>
      <p:bold r:id="rId30"/>
      <p:italic r:id="rId31"/>
      <p:boldItalic r:id="rId32"/>
    </p:embeddedFont>
    <p:embeddedFont>
      <p:font typeface="Poppins"/>
      <p:regular r:id="rId33"/>
      <p:bold r:id="rId34"/>
      <p:italic r:id="rId35"/>
      <p:boldItalic r:id="rId36"/>
    </p:embeddedFont>
    <p:embeddedFont>
      <p:font typeface="Fira Code"/>
      <p:regular r:id="rId37"/>
      <p:bold r:id="rId38"/>
    </p:embeddedFont>
    <p:embeddedFont>
      <p:font typeface="DM Sans"/>
      <p:regular r:id="rId39"/>
      <p:bold r:id="rId40"/>
      <p:italic r:id="rId41"/>
      <p:boldItalic r:id="rId42"/>
    </p:embeddedFont>
    <p:embeddedFont>
      <p:font typeface="Merriweather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02BC44-3A9D-4DFD-82A5-B02353275E90}">
  <a:tblStyle styleId="{0302BC44-3A9D-4DFD-82A5-B02353275E9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bold.fntdata"/><Relationship Id="rId20" Type="http://schemas.openxmlformats.org/officeDocument/2006/relationships/slide" Target="slides/slide14.xml"/><Relationship Id="rId42" Type="http://schemas.openxmlformats.org/officeDocument/2006/relationships/font" Target="fonts/DMSans-boldItalic.fntdata"/><Relationship Id="rId41" Type="http://schemas.openxmlformats.org/officeDocument/2006/relationships/font" Target="fonts/DMSans-italic.fntdata"/><Relationship Id="rId22" Type="http://schemas.openxmlformats.org/officeDocument/2006/relationships/slide" Target="slides/slide16.xml"/><Relationship Id="rId44" Type="http://schemas.openxmlformats.org/officeDocument/2006/relationships/font" Target="fonts/Merriweather-bold.fntdata"/><Relationship Id="rId21" Type="http://schemas.openxmlformats.org/officeDocument/2006/relationships/slide" Target="slides/slide15.xml"/><Relationship Id="rId43" Type="http://schemas.openxmlformats.org/officeDocument/2006/relationships/font" Target="fonts/Merriweather-regular.fntdata"/><Relationship Id="rId24" Type="http://schemas.openxmlformats.org/officeDocument/2006/relationships/slide" Target="slides/slide18.xml"/><Relationship Id="rId46" Type="http://schemas.openxmlformats.org/officeDocument/2006/relationships/font" Target="fonts/Merriweather-boldItalic.fntdata"/><Relationship Id="rId23" Type="http://schemas.openxmlformats.org/officeDocument/2006/relationships/slide" Target="slides/slide17.xml"/><Relationship Id="rId45" Type="http://schemas.openxmlformats.org/officeDocument/2006/relationships/font" Target="fonts/Merriweath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5.xml"/><Relationship Id="rId33" Type="http://schemas.openxmlformats.org/officeDocument/2006/relationships/font" Target="fonts/Poppins-regular.fntdata"/><Relationship Id="rId10" Type="http://schemas.openxmlformats.org/officeDocument/2006/relationships/slide" Target="slides/slide4.xml"/><Relationship Id="rId32" Type="http://schemas.openxmlformats.org/officeDocument/2006/relationships/font" Target="fonts/Lato-boldItalic.fntdata"/><Relationship Id="rId13" Type="http://schemas.openxmlformats.org/officeDocument/2006/relationships/slide" Target="slides/slide7.xml"/><Relationship Id="rId35" Type="http://schemas.openxmlformats.org/officeDocument/2006/relationships/font" Target="fonts/Poppins-italic.fntdata"/><Relationship Id="rId12" Type="http://schemas.openxmlformats.org/officeDocument/2006/relationships/slide" Target="slides/slide6.xml"/><Relationship Id="rId34" Type="http://schemas.openxmlformats.org/officeDocument/2006/relationships/font" Target="fonts/Poppins-bold.fntdata"/><Relationship Id="rId15" Type="http://schemas.openxmlformats.org/officeDocument/2006/relationships/slide" Target="slides/slide9.xml"/><Relationship Id="rId37" Type="http://schemas.openxmlformats.org/officeDocument/2006/relationships/font" Target="fonts/FiraCode-regular.fntdata"/><Relationship Id="rId14" Type="http://schemas.openxmlformats.org/officeDocument/2006/relationships/slide" Target="slides/slide8.xml"/><Relationship Id="rId36" Type="http://schemas.openxmlformats.org/officeDocument/2006/relationships/font" Target="fonts/Poppins-boldItalic.fntdata"/><Relationship Id="rId17" Type="http://schemas.openxmlformats.org/officeDocument/2006/relationships/slide" Target="slides/slide11.xml"/><Relationship Id="rId39" Type="http://schemas.openxmlformats.org/officeDocument/2006/relationships/font" Target="fonts/DMSans-regular.fntdata"/><Relationship Id="rId16" Type="http://schemas.openxmlformats.org/officeDocument/2006/relationships/slide" Target="slides/slide10.xml"/><Relationship Id="rId38" Type="http://schemas.openxmlformats.org/officeDocument/2006/relationships/font" Target="fonts/FiraCode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a5d7d070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ba5d7d070a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a5d7d070a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ba5d7d070a_4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a5d7d070a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ba5d7d070a_5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7eb7cf769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b7eb7cf769_0_5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7eb7cf769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b7eb7cf769_0_2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7eb7cf769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b7eb7cf769_0_3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7eb7cf769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b7eb7cf769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ba5d7d070a_4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ba5d7d070a_4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a5d7d070a_6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ba5d7d070a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a5d7d070a_6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ba5d7d070a_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ba5d7d070a_6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ba5d7d070a_6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ba5d7d070a_6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ba5d7d070a_6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a5d7d070a_6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ba5d7d070a_6_1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ba5d7d070a_6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ba5d7d070a_6_2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ba5d7d070a_6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ba5d7d070a_6_3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ba5d7d070a_6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ba5d7d070a_6_4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b7eb7cf76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b7eb7cf76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b7eb7cf769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b7eb7cf769_0_4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7eb7cf769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b7eb7cf769_0_6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b7eb7cf769_0_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3b7eb7cf769_0_8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b7eb7cf769_0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b7eb7cf769_0_7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Relationship Id="rId6" Type="http://schemas.openxmlformats.org/officeDocument/2006/relationships/image" Target="../media/image41.png"/><Relationship Id="rId7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0" Type="http://schemas.openxmlformats.org/officeDocument/2006/relationships/image" Target="../media/image16.png"/><Relationship Id="rId9" Type="http://schemas.openxmlformats.org/officeDocument/2006/relationships/image" Target="../media/image27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11" Type="http://schemas.openxmlformats.org/officeDocument/2006/relationships/image" Target="../media/image33.png"/><Relationship Id="rId10" Type="http://schemas.openxmlformats.org/officeDocument/2006/relationships/image" Target="../media/image24.png"/><Relationship Id="rId12" Type="http://schemas.openxmlformats.org/officeDocument/2006/relationships/image" Target="../media/image15.png"/><Relationship Id="rId9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26.png"/><Relationship Id="rId7" Type="http://schemas.openxmlformats.org/officeDocument/2006/relationships/image" Target="../media/image28.png"/><Relationship Id="rId8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8.png"/><Relationship Id="rId10" Type="http://schemas.openxmlformats.org/officeDocument/2006/relationships/image" Target="../media/image34.png"/><Relationship Id="rId13" Type="http://schemas.openxmlformats.org/officeDocument/2006/relationships/image" Target="../media/image48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87.png"/><Relationship Id="rId9" Type="http://schemas.openxmlformats.org/officeDocument/2006/relationships/image" Target="../media/image39.png"/><Relationship Id="rId5" Type="http://schemas.openxmlformats.org/officeDocument/2006/relationships/image" Target="../media/image21.png"/><Relationship Id="rId6" Type="http://schemas.openxmlformats.org/officeDocument/2006/relationships/image" Target="../media/image35.png"/><Relationship Id="rId7" Type="http://schemas.openxmlformats.org/officeDocument/2006/relationships/image" Target="../media/image29.png"/><Relationship Id="rId8" Type="http://schemas.openxmlformats.org/officeDocument/2006/relationships/image" Target="../media/image5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9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47.png"/><Relationship Id="rId10" Type="http://schemas.openxmlformats.org/officeDocument/2006/relationships/image" Target="../media/image53.png"/><Relationship Id="rId13" Type="http://schemas.openxmlformats.org/officeDocument/2006/relationships/image" Target="../media/image57.png"/><Relationship Id="rId1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9.png"/><Relationship Id="rId4" Type="http://schemas.openxmlformats.org/officeDocument/2006/relationships/image" Target="../media/image43.png"/><Relationship Id="rId9" Type="http://schemas.openxmlformats.org/officeDocument/2006/relationships/image" Target="../media/image51.png"/><Relationship Id="rId15" Type="http://schemas.openxmlformats.org/officeDocument/2006/relationships/image" Target="../media/image50.png"/><Relationship Id="rId14" Type="http://schemas.openxmlformats.org/officeDocument/2006/relationships/image" Target="../media/image60.png"/><Relationship Id="rId17" Type="http://schemas.openxmlformats.org/officeDocument/2006/relationships/image" Target="../media/image52.png"/><Relationship Id="rId16" Type="http://schemas.openxmlformats.org/officeDocument/2006/relationships/image" Target="../media/image67.png"/><Relationship Id="rId5" Type="http://schemas.openxmlformats.org/officeDocument/2006/relationships/image" Target="../media/image44.png"/><Relationship Id="rId6" Type="http://schemas.openxmlformats.org/officeDocument/2006/relationships/image" Target="../media/image37.png"/><Relationship Id="rId18" Type="http://schemas.openxmlformats.org/officeDocument/2006/relationships/image" Target="../media/image55.png"/><Relationship Id="rId7" Type="http://schemas.openxmlformats.org/officeDocument/2006/relationships/image" Target="../media/image58.png"/><Relationship Id="rId8" Type="http://schemas.openxmlformats.org/officeDocument/2006/relationships/image" Target="../media/image6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83.png"/><Relationship Id="rId5" Type="http://schemas.openxmlformats.org/officeDocument/2006/relationships/image" Target="../media/image61.png"/><Relationship Id="rId6" Type="http://schemas.openxmlformats.org/officeDocument/2006/relationships/image" Target="../media/image103.png"/><Relationship Id="rId7" Type="http://schemas.openxmlformats.org/officeDocument/2006/relationships/image" Target="../media/image8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5.png"/><Relationship Id="rId4" Type="http://schemas.openxmlformats.org/officeDocument/2006/relationships/image" Target="../media/image72.png"/><Relationship Id="rId5" Type="http://schemas.openxmlformats.org/officeDocument/2006/relationships/image" Target="../media/image68.png"/><Relationship Id="rId6" Type="http://schemas.openxmlformats.org/officeDocument/2006/relationships/image" Target="../media/image7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5.png"/><Relationship Id="rId4" Type="http://schemas.openxmlformats.org/officeDocument/2006/relationships/image" Target="../media/image69.png"/><Relationship Id="rId5" Type="http://schemas.openxmlformats.org/officeDocument/2006/relationships/image" Target="../media/image72.png"/><Relationship Id="rId6" Type="http://schemas.openxmlformats.org/officeDocument/2006/relationships/image" Target="../media/image94.png"/><Relationship Id="rId7" Type="http://schemas.openxmlformats.org/officeDocument/2006/relationships/image" Target="../media/image8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5.png"/><Relationship Id="rId4" Type="http://schemas.openxmlformats.org/officeDocument/2006/relationships/image" Target="../media/image70.png"/><Relationship Id="rId5" Type="http://schemas.openxmlformats.org/officeDocument/2006/relationships/image" Target="../media/image117.png"/><Relationship Id="rId6" Type="http://schemas.openxmlformats.org/officeDocument/2006/relationships/image" Target="../media/image75.png"/><Relationship Id="rId7" Type="http://schemas.openxmlformats.org/officeDocument/2006/relationships/image" Target="../media/image81.png"/><Relationship Id="rId8" Type="http://schemas.openxmlformats.org/officeDocument/2006/relationships/image" Target="../media/image7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6.png"/><Relationship Id="rId4" Type="http://schemas.openxmlformats.org/officeDocument/2006/relationships/image" Target="../media/image78.png"/><Relationship Id="rId5" Type="http://schemas.openxmlformats.org/officeDocument/2006/relationships/image" Target="../media/image82.png"/><Relationship Id="rId6" Type="http://schemas.openxmlformats.org/officeDocument/2006/relationships/image" Target="../media/image9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2.png"/><Relationship Id="rId4" Type="http://schemas.openxmlformats.org/officeDocument/2006/relationships/image" Target="../media/image10.png"/><Relationship Id="rId9" Type="http://schemas.openxmlformats.org/officeDocument/2006/relationships/image" Target="../media/image100.png"/><Relationship Id="rId5" Type="http://schemas.openxmlformats.org/officeDocument/2006/relationships/image" Target="../media/image85.png"/><Relationship Id="rId6" Type="http://schemas.openxmlformats.org/officeDocument/2006/relationships/image" Target="../media/image84.png"/><Relationship Id="rId7" Type="http://schemas.openxmlformats.org/officeDocument/2006/relationships/image" Target="../media/image109.png"/><Relationship Id="rId8" Type="http://schemas.openxmlformats.org/officeDocument/2006/relationships/image" Target="../media/image113.png"/></Relationships>
</file>

<file path=ppt/slides/_rels/slide20.xml.rels><?xml version="1.0" encoding="UTF-8" standalone="yes"?><Relationships xmlns="http://schemas.openxmlformats.org/package/2006/relationships"><Relationship Id="rId10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92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image" Target="../media/image101.png"/><Relationship Id="rId8" Type="http://schemas.openxmlformats.org/officeDocument/2006/relationships/image" Target="../media/image91.png"/></Relationships>
</file>

<file path=ppt/slides/_rels/slide2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2.png"/><Relationship Id="rId10" Type="http://schemas.openxmlformats.org/officeDocument/2006/relationships/image" Target="../media/image106.png"/><Relationship Id="rId12" Type="http://schemas.openxmlformats.org/officeDocument/2006/relationships/image" Target="../media/image10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9.png"/><Relationship Id="rId4" Type="http://schemas.openxmlformats.org/officeDocument/2006/relationships/image" Target="../media/image96.png"/><Relationship Id="rId9" Type="http://schemas.openxmlformats.org/officeDocument/2006/relationships/image" Target="../media/image108.png"/><Relationship Id="rId5" Type="http://schemas.openxmlformats.org/officeDocument/2006/relationships/image" Target="../media/image111.png"/><Relationship Id="rId6" Type="http://schemas.openxmlformats.org/officeDocument/2006/relationships/image" Target="../media/image107.png"/><Relationship Id="rId7" Type="http://schemas.openxmlformats.org/officeDocument/2006/relationships/image" Target="../media/image104.png"/><Relationship Id="rId8" Type="http://schemas.openxmlformats.org/officeDocument/2006/relationships/image" Target="../media/image1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9.png"/><Relationship Id="rId4" Type="http://schemas.openxmlformats.org/officeDocument/2006/relationships/image" Target="../media/image116.png"/><Relationship Id="rId5" Type="http://schemas.openxmlformats.org/officeDocument/2006/relationships/image" Target="../media/image1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2476500" cy="1881300"/>
          </a:xfrm>
          <a:prstGeom prst="roundRect">
            <a:avLst>
              <a:gd fmla="val 50000" name="adj"/>
            </a:avLst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9096375" y="3075525"/>
            <a:ext cx="3810000" cy="3810000"/>
          </a:xfrm>
          <a:prstGeom prst="roundRect">
            <a:avLst>
              <a:gd fmla="val 50000" name="adj"/>
            </a:avLst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0" y="571500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012350" y="4003388"/>
            <a:ext cx="4167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                   </a:t>
            </a:r>
            <a:r>
              <a:rPr b="1" i="0" lang="en-US" sz="18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Sadman Sakib </a:t>
            </a:r>
            <a:endParaRPr b="1" i="0" sz="1800" u="none" cap="none" strike="noStrike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                        </a:t>
            </a:r>
            <a:r>
              <a:rPr b="1" i="0" lang="en-US" sz="18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Roll: 1654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219575" y="4856708"/>
            <a:ext cx="3752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SPL1 MIDTERM PRESENTATION, 2025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405187" y="5532983"/>
            <a:ext cx="53816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Institute of Information Technology, University of Dhaka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3405187" y="5390108"/>
            <a:ext cx="5381625" cy="1905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095375" y="1772691"/>
            <a:ext cx="100012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Mental Health Stress Prediction Using ML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209925" y="3304133"/>
            <a:ext cx="57721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 "From-Scratch" Implementation in Java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9500" y="2182415"/>
            <a:ext cx="4191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0500" y="2919263"/>
            <a:ext cx="3429000" cy="233630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000125" y="1840110"/>
            <a:ext cx="5857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Goal: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To develop a machine learning system that predicts student </a:t>
            </a:r>
            <a:r>
              <a:rPr b="1" i="0" lang="en-US" sz="1650" u="none" cap="none" strike="noStrik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stress levels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00125" y="2796182"/>
            <a:ext cx="5857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Classification: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The model will classify students into three categories: </a:t>
            </a:r>
            <a:r>
              <a:rPr b="1" i="0" lang="en-US" sz="1650" u="none" cap="none" strike="noStrik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Low, Moderate, and High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00125" y="3752254"/>
            <a:ext cx="5857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Dataset: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Uses the </a:t>
            </a:r>
            <a:r>
              <a:rPr b="1" i="0" lang="en-US" sz="1650" u="none" cap="none" strike="noStrik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Mental Health Prediction (MHP) Dataset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with responses from over 2,000 Bangladeshi university students.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00125" y="5043487"/>
            <a:ext cx="5857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Features: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Predictions are based on demographic, academic, and psychological data like </a:t>
            </a:r>
            <a:r>
              <a:rPr b="1" i="0" lang="en-US" sz="1650" u="none" cap="none" strike="noStrik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age, gender, CGPA, anxiety score, and depression score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62000" y="887610"/>
            <a:ext cx="1140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Overview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887610"/>
            <a:ext cx="76200" cy="476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571500" y="6400800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SADMAN SAKIB | ROLL: 1654 IIT, UNIVERSITY OF DHAKA SPL1 MIDTERM PRESENTATION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87821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3428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9035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08158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71625"/>
            <a:ext cx="11049000" cy="18037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61171"/>
            <a:ext cx="11049000" cy="2424707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962025" y="2409825"/>
            <a:ext cx="102681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 use a data-driven approach for early stress detection and to promote mental health awareness in an academic environment.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1914525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1333500" y="1866900"/>
            <a:ext cx="151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Motivation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4004071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1409700" y="3956446"/>
            <a:ext cx="2076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Key Objectives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390650" y="4499371"/>
            <a:ext cx="9839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Predict student stress levels by implementing ML algorithms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from scratch in Java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(no libraries).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390650" y="4977407"/>
            <a:ext cx="9839400" cy="660300"/>
          </a:xfrm>
          <a:prstGeom prst="rect">
            <a:avLst/>
          </a:prstGeom>
          <a:noFill/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Understand and compare the inner workings of different models like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Decision Trees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Logistic Regression and KNN</a:t>
            </a: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452794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500598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Motivation &amp; Key Objectives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571500"/>
            <a:ext cx="76200" cy="6192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571500" y="6410325"/>
            <a:ext cx="422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IIT, UNIVERSITY OF DHAKA | SPL1 MIDTERM PRESENTATION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924550"/>
            <a:ext cx="110490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01469" y="1352550"/>
            <a:ext cx="581903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762000" y="571500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The Dataset: MHP (Mental Health Prediction)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571500" y="6124575"/>
            <a:ext cx="2028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SADMAN SAKIB | ROLL: 1654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057775" y="6124575"/>
            <a:ext cx="1924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IIT, UNIVERSITY OF DHAKA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439275" y="6124575"/>
            <a:ext cx="2181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SPL1 MIDTERM PRESENTATION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71500" y="2800350"/>
            <a:ext cx="509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Selected Features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315819" y="1600200"/>
            <a:ext cx="5057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Raw Dataset Preview</a:t>
            </a:r>
            <a:endParaRPr/>
          </a:p>
        </p:txBody>
      </p:sp>
      <p:graphicFrame>
        <p:nvGraphicFramePr>
          <p:cNvPr id="144" name="Google Shape;144;p16"/>
          <p:cNvGraphicFramePr/>
          <p:nvPr/>
        </p:nvGraphicFramePr>
        <p:xfrm>
          <a:off x="6049119" y="19621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{0302BC44-3A9D-4DFD-82A5-B02353275E90}</a:tableStyleId>
              </a:tblPr>
              <a:tblGrid>
                <a:gridCol w="850100"/>
                <a:gridCol w="975425"/>
                <a:gridCol w="1296000"/>
                <a:gridCol w="1017250"/>
                <a:gridCol w="1184975"/>
              </a:tblGrid>
              <a:tr h="39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Gender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CGPA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Anxiety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369A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</a:tr>
              <a:tr h="39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18-22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Female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2.50-2.99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369A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</a:tr>
              <a:tr h="39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18-22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3.00-3.39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369A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</a:tr>
              <a:tr h="39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23-26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Female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3.40-3.79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369A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</a:tr>
              <a:tr h="39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18-22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Below 2.50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369A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</a:tr>
              <a:tr h="39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18-22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Female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3.00-3.39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369A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</a:tr>
              <a:tr h="39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23-26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3.80-4.00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0369A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145" name="Google Shape;145;p16"/>
          <p:cNvSpPr txBox="1"/>
          <p:nvPr/>
        </p:nvSpPr>
        <p:spPr>
          <a:xfrm>
            <a:off x="6049119" y="5534025"/>
            <a:ext cx="5323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*Scores extracted from GAD-7 and PHQ-9 standardized scales.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04875" y="1352550"/>
            <a:ext cx="4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Figshare, survey responses from 2,000+ Bangladeshi students.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04875" y="2028825"/>
            <a:ext cx="4515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 Format: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Raw CSV format for Java implementation.</a:t>
            </a:r>
            <a:endParaRPr/>
          </a:p>
        </p:txBody>
      </p:sp>
      <p:pic>
        <p:nvPicPr>
          <p:cNvPr descr="image.png" id="148" name="Google Shape;14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8289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904875" y="3238500"/>
            <a:ext cx="4515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Demographic: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Age, Gender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904875" y="3648075"/>
            <a:ext cx="4515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Academic: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CGPA, Scholarship Status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904875" y="4057650"/>
            <a:ext cx="4515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Psychological: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Anxiety &amp; Depression scores</a:t>
            </a:r>
            <a:endParaRPr/>
          </a:p>
        </p:txBody>
      </p:sp>
      <p:pic>
        <p:nvPicPr>
          <p:cNvPr descr="image.png" id="152" name="Google Shape;15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49119" y="162401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04900" y="4843476"/>
            <a:ext cx="358378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/>
          <p:nvPr/>
        </p:nvSpPr>
        <p:spPr>
          <a:xfrm>
            <a:off x="6049119" y="2738437"/>
            <a:ext cx="850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6899225" y="2738437"/>
            <a:ext cx="975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7874644" y="2738437"/>
            <a:ext cx="1296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9170640" y="2738437"/>
            <a:ext cx="1017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10187880" y="2738437"/>
            <a:ext cx="1185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049119" y="3138487"/>
            <a:ext cx="850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6899225" y="3138487"/>
            <a:ext cx="975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7874644" y="3138487"/>
            <a:ext cx="1296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9170640" y="3138487"/>
            <a:ext cx="1017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10187880" y="3138487"/>
            <a:ext cx="1185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6049119" y="3538537"/>
            <a:ext cx="850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6899225" y="3538537"/>
            <a:ext cx="975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7874644" y="3538537"/>
            <a:ext cx="1296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9170640" y="3538537"/>
            <a:ext cx="1017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10187880" y="3538537"/>
            <a:ext cx="1185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6049119" y="3938587"/>
            <a:ext cx="850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6899225" y="3938587"/>
            <a:ext cx="975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7874644" y="3938587"/>
            <a:ext cx="1296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9170640" y="3938587"/>
            <a:ext cx="1017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10187880" y="3938587"/>
            <a:ext cx="1185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6049119" y="4338637"/>
            <a:ext cx="850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6899225" y="4338637"/>
            <a:ext cx="975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7874644" y="4338637"/>
            <a:ext cx="1296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9170640" y="4338637"/>
            <a:ext cx="1017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10187880" y="4338637"/>
            <a:ext cx="1185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6049119" y="4738687"/>
            <a:ext cx="850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6899225" y="4738687"/>
            <a:ext cx="975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7874644" y="4738687"/>
            <a:ext cx="1296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9170640" y="4738687"/>
            <a:ext cx="10173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10187880" y="4738687"/>
            <a:ext cx="1185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4" name="Google Shape;18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13858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206216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115050"/>
            <a:ext cx="106680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150875"/>
            <a:ext cx="3301900" cy="3813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44900" y="2150864"/>
            <a:ext cx="3302049" cy="3813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7950" y="2150864"/>
            <a:ext cx="3301900" cy="3813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98637" y="1960364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81538" y="1960364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64588" y="1960364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 txBox="1"/>
          <p:nvPr/>
        </p:nvSpPr>
        <p:spPr>
          <a:xfrm>
            <a:off x="1000125" y="571500"/>
            <a:ext cx="1095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Project Workflow</a:t>
            </a:r>
            <a:endParaRPr/>
          </a:p>
        </p:txBody>
      </p:sp>
      <p:sp>
        <p:nvSpPr>
          <p:cNvPr id="199" name="Google Shape;199;p17"/>
          <p:cNvSpPr/>
          <p:nvPr/>
        </p:nvSpPr>
        <p:spPr>
          <a:xfrm>
            <a:off x="762000" y="571500"/>
            <a:ext cx="95400" cy="6858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762000" y="6315075"/>
            <a:ext cx="2028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SADMAN SAKIB | ROLL: 1654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5053012" y="6315075"/>
            <a:ext cx="1924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IIT, UNIVERSITY OF DHAKA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9239250" y="6315075"/>
            <a:ext cx="2190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MIDTERM PRESENTATION 2025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1852880" y="3789164"/>
            <a:ext cx="1120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The Data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 Pipeline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5085724" y="3789164"/>
            <a:ext cx="2020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Model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 Implementation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9108817" y="3789164"/>
            <a:ext cx="1340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Evaluation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 &amp; Analysis</a:t>
            </a:r>
            <a:endParaRPr/>
          </a:p>
        </p:txBody>
      </p:sp>
      <p:pic>
        <p:nvPicPr>
          <p:cNvPr descr="image.png" id="206" name="Google Shape;206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936700" y="2550914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619601" y="2550914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302650" y="2550914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7"/>
          <p:cNvSpPr/>
          <p:nvPr/>
        </p:nvSpPr>
        <p:spPr>
          <a:xfrm>
            <a:off x="0" y="114300"/>
            <a:ext cx="12192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7547223"/>
            <a:ext cx="108585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2213520"/>
            <a:ext cx="5143500" cy="12684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0" y="2232570"/>
            <a:ext cx="51054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376773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6750" y="445159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6750" y="536212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6750" y="627265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8"/>
          <p:cNvSpPr txBox="1"/>
          <p:nvPr/>
        </p:nvSpPr>
        <p:spPr>
          <a:xfrm>
            <a:off x="1000125" y="476250"/>
            <a:ext cx="1105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Part 1</a:t>
            </a:r>
            <a:r>
              <a:rPr b="1" i="0" lang="en-US" sz="330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: The Data Pipeline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1000125" y="984795"/>
            <a:ext cx="10525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Preparing Raw Data for the Models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666750" y="7747248"/>
            <a:ext cx="20289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SADMAN SAKIB | ROLL: 1654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5057775" y="7747248"/>
            <a:ext cx="19242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IIT, UNIVERSITY OF DHAKA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9344025" y="7747248"/>
            <a:ext cx="21813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SPL1 MIDTERM PRESENTATION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962025" y="1642020"/>
            <a:ext cx="509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THE GENERAL IDEA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6791325" y="1642020"/>
            <a:ext cx="497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THE CODE IMPLEMENTATION</a:t>
            </a:r>
            <a:endParaRPr/>
          </a:p>
        </p:txBody>
      </p:sp>
      <p:pic>
        <p:nvPicPr>
          <p:cNvPr descr="image.png" id="229" name="Google Shape;229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6750" y="1694408"/>
            <a:ext cx="1809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81750" y="1694408"/>
            <a:ext cx="2952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8"/>
          <p:cNvSpPr txBox="1"/>
          <p:nvPr/>
        </p:nvSpPr>
        <p:spPr>
          <a:xfrm>
            <a:off x="6581775" y="7023348"/>
            <a:ext cx="47436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56404"/>
                </a:solidFill>
                <a:latin typeface="Lato"/>
                <a:ea typeface="Lato"/>
                <a:cs typeface="Lato"/>
                <a:sym typeface="Lato"/>
              </a:rPr>
              <a:t>Mapping text to numbers allows the algorithms to perform mathematical operations like distance or weight calculations.</a:t>
            </a:r>
            <a:endParaRPr/>
          </a:p>
        </p:txBody>
      </p:sp>
      <p:pic>
        <p:nvPicPr>
          <p:cNvPr descr="image.png" id="232" name="Google Shape;232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638925" y="2404020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8"/>
          <p:cNvSpPr txBox="1"/>
          <p:nvPr/>
        </p:nvSpPr>
        <p:spPr>
          <a:xfrm>
            <a:off x="1238250" y="3767732"/>
            <a:ext cx="3486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Parse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1238250" y="4034432"/>
            <a:ext cx="34863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Read and tokenize each line from the raw CSV file.</a:t>
            </a:r>
            <a:endParaRPr b="0" i="0" sz="1275" u="none" cap="none" strike="noStrike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5" name="Google Shape;235;p18"/>
          <p:cNvSpPr txBox="1"/>
          <p:nvPr/>
        </p:nvSpPr>
        <p:spPr>
          <a:xfrm>
            <a:off x="1238250" y="4451598"/>
            <a:ext cx="457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Encode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1238250" y="4718298"/>
            <a:ext cx="45720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Convert text categories like "Female" or "Second Year" into numbers (e.g., 0, 1, 2).</a:t>
            </a:r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1238250" y="5362128"/>
            <a:ext cx="4572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Convert</a:t>
            </a:r>
            <a:endParaRPr/>
          </a:p>
        </p:txBody>
      </p:sp>
      <p:sp>
        <p:nvSpPr>
          <p:cNvPr id="238" name="Google Shape;238;p18"/>
          <p:cNvSpPr txBox="1"/>
          <p:nvPr/>
        </p:nvSpPr>
        <p:spPr>
          <a:xfrm>
            <a:off x="1238250" y="5628828"/>
            <a:ext cx="45720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Turn text ranges like "18-22" or "2.50-2.99" into single numbers (averages).</a:t>
            </a:r>
            <a:endParaRPr/>
          </a:p>
        </p:txBody>
      </p:sp>
      <p:sp>
        <p:nvSpPr>
          <p:cNvPr id="239" name="Google Shape;239;p18"/>
          <p:cNvSpPr txBox="1"/>
          <p:nvPr/>
        </p:nvSpPr>
        <p:spPr>
          <a:xfrm>
            <a:off x="1238250" y="6272658"/>
            <a:ext cx="384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Structure</a:t>
            </a:r>
            <a:endParaRPr/>
          </a:p>
        </p:txBody>
      </p:sp>
      <p:sp>
        <p:nvSpPr>
          <p:cNvPr id="240" name="Google Shape;240;p18"/>
          <p:cNvSpPr txBox="1"/>
          <p:nvPr/>
        </p:nvSpPr>
        <p:spPr>
          <a:xfrm>
            <a:off x="1238250" y="6539358"/>
            <a:ext cx="38481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Package final numbers into a </a:t>
            </a:r>
            <a:r>
              <a:rPr b="0" i="1" lang="en-US" sz="12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features</a:t>
            </a:r>
            <a:r>
              <a:rPr b="0" i="0" lang="en-US" sz="12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array and a </a:t>
            </a:r>
            <a:r>
              <a:rPr b="0" i="1" lang="en-US" sz="12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label</a:t>
            </a:r>
            <a:r>
              <a:rPr b="0" i="0" lang="en-US" sz="12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6581775" y="3004100"/>
            <a:ext cx="34860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5275" lvl="0" marL="45720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rgbClr val="1A1C1E"/>
              </a:buClr>
              <a:buSzPts val="1050"/>
              <a:buChar char="●"/>
            </a:pPr>
            <a:r>
              <a:rPr lang="en-US" sz="1050">
                <a:solidFill>
                  <a:srgbClr val="0F0F10"/>
                </a:solidFill>
                <a:highlight>
                  <a:srgbClr val="F4F4F5"/>
                </a:highlight>
                <a:latin typeface="Courier New"/>
                <a:ea typeface="Courier New"/>
                <a:cs typeface="Courier New"/>
                <a:sym typeface="Courier New"/>
              </a:rPr>
              <a:t>loadData()</a:t>
            </a:r>
            <a:r>
              <a:rPr lang="en-US" sz="1050">
                <a:solidFill>
                  <a:srgbClr val="1A1C1E"/>
                </a:solidFill>
                <a:highlight>
                  <a:srgbClr val="FFFFFF"/>
                </a:highlight>
              </a:rPr>
              <a:t>: // Orchestrates the entire process.</a:t>
            </a:r>
            <a:endParaRPr sz="1050">
              <a:solidFill>
                <a:srgbClr val="1A1C1E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050"/>
              <a:buChar char="●"/>
            </a:pPr>
            <a:r>
              <a:rPr lang="en-US" sz="1050">
                <a:solidFill>
                  <a:srgbClr val="0F0F10"/>
                </a:solidFill>
                <a:highlight>
                  <a:srgbClr val="F4F4F5"/>
                </a:highlight>
                <a:latin typeface="Courier New"/>
                <a:ea typeface="Courier New"/>
                <a:cs typeface="Courier New"/>
                <a:sym typeface="Courier New"/>
              </a:rPr>
              <a:t>encodeAge()</a:t>
            </a:r>
            <a:r>
              <a:rPr lang="en-US" sz="1050">
                <a:solidFill>
                  <a:srgbClr val="1A1C1E"/>
                </a:solidFill>
                <a:highlight>
                  <a:srgbClr val="FFFFFF"/>
                </a:highlight>
              </a:rPr>
              <a:t>: // Handles "18-22" -&gt; 20.0</a:t>
            </a:r>
            <a:endParaRPr sz="1050">
              <a:solidFill>
                <a:srgbClr val="1A1C1E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050"/>
              <a:buChar char="●"/>
            </a:pPr>
            <a:r>
              <a:rPr lang="en-US" sz="1050">
                <a:solidFill>
                  <a:srgbClr val="0F0F10"/>
                </a:solidFill>
                <a:highlight>
                  <a:srgbClr val="F4F4F5"/>
                </a:highlight>
                <a:latin typeface="Courier New"/>
                <a:ea typeface="Courier New"/>
                <a:cs typeface="Courier New"/>
                <a:sym typeface="Courier New"/>
              </a:rPr>
              <a:t>encodeGender()</a:t>
            </a:r>
            <a:r>
              <a:rPr lang="en-US" sz="1050">
                <a:solidFill>
                  <a:srgbClr val="1A1C1E"/>
                </a:solidFill>
                <a:highlight>
                  <a:srgbClr val="FFFFFF"/>
                </a:highlight>
              </a:rPr>
              <a:t>: // Handles "Female" -&gt; 0.0</a:t>
            </a:r>
            <a:endParaRPr sz="1050">
              <a:solidFill>
                <a:srgbClr val="1A1C1E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050"/>
              <a:buChar char="●"/>
            </a:pPr>
            <a:r>
              <a:rPr lang="en-US" sz="1050">
                <a:solidFill>
                  <a:srgbClr val="0F0F10"/>
                </a:solidFill>
                <a:highlight>
                  <a:srgbClr val="F4F4F5"/>
                </a:highlight>
                <a:latin typeface="Courier New"/>
                <a:ea typeface="Courier New"/>
                <a:cs typeface="Courier New"/>
                <a:sym typeface="Courier New"/>
              </a:rPr>
              <a:t>encodeCgpa()</a:t>
            </a:r>
            <a:r>
              <a:rPr lang="en-US" sz="1050">
                <a:solidFill>
                  <a:srgbClr val="1A1C1E"/>
                </a:solidFill>
                <a:highlight>
                  <a:srgbClr val="FFFFFF"/>
                </a:highlight>
              </a:rPr>
              <a:t>: // Handles "2.50-2.99" -&gt; 2.745</a:t>
            </a:r>
            <a:endParaRPr sz="1050">
              <a:solidFill>
                <a:srgbClr val="1A1C1E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050"/>
              <a:buChar char="●"/>
            </a:pPr>
            <a:r>
              <a:rPr lang="en-US" sz="1050">
                <a:solidFill>
                  <a:srgbClr val="0F0F10"/>
                </a:solidFill>
                <a:highlight>
                  <a:srgbClr val="F4F4F5"/>
                </a:highlight>
                <a:latin typeface="Courier New"/>
                <a:ea typeface="Courier New"/>
                <a:cs typeface="Courier New"/>
                <a:sym typeface="Courier New"/>
              </a:rPr>
              <a:t>encodeAcademicYear()</a:t>
            </a:r>
            <a:r>
              <a:rPr lang="en-US" sz="1050">
                <a:solidFill>
                  <a:srgbClr val="1A1C1E"/>
                </a:solidFill>
                <a:highlight>
                  <a:srgbClr val="FFFFFF"/>
                </a:highlight>
              </a:rPr>
              <a:t>: // Handles "Second Year" -&gt; 1.0</a:t>
            </a:r>
            <a:endParaRPr sz="1050">
              <a:solidFill>
                <a:srgbClr val="1A1C1E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115050"/>
            <a:ext cx="11049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9"/>
          <p:cNvSpPr/>
          <p:nvPr/>
        </p:nvSpPr>
        <p:spPr>
          <a:xfrm>
            <a:off x="5238750" y="2144166"/>
            <a:ext cx="1714500" cy="57300"/>
          </a:xfrm>
          <a:prstGeom prst="roundRect">
            <a:avLst>
              <a:gd fmla="val 50000" name="adj"/>
            </a:avLst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1833575" y="976331"/>
            <a:ext cx="81027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00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Part 2: </a:t>
            </a:r>
            <a:r>
              <a:rPr b="1" i="0" lang="en-US" sz="630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MODEL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30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 IMPLEMENTATION</a:t>
            </a:r>
            <a:endParaRPr/>
          </a:p>
        </p:txBody>
      </p:sp>
      <p:sp>
        <p:nvSpPr>
          <p:cNvPr id="250" name="Google Shape;250;p19"/>
          <p:cNvSpPr txBox="1"/>
          <p:nvPr/>
        </p:nvSpPr>
        <p:spPr>
          <a:xfrm>
            <a:off x="3986200" y="4437557"/>
            <a:ext cx="4219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 txBox="1"/>
          <p:nvPr/>
        </p:nvSpPr>
        <p:spPr>
          <a:xfrm>
            <a:off x="571500" y="6315075"/>
            <a:ext cx="2028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SADMAN SAKIB | ROLL: 1654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5057775" y="6315075"/>
            <a:ext cx="1924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IIT, UNIVERSITY OF DHAKA</a:t>
            </a:r>
            <a:endParaRPr/>
          </a:p>
        </p:txBody>
      </p:sp>
      <p:sp>
        <p:nvSpPr>
          <p:cNvPr id="253" name="Google Shape;253;p19"/>
          <p:cNvSpPr txBox="1"/>
          <p:nvPr/>
        </p:nvSpPr>
        <p:spPr>
          <a:xfrm>
            <a:off x="9439275" y="6315075"/>
            <a:ext cx="2181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SPL1 MIDTERM PRESENTATION</a:t>
            </a:r>
            <a:endParaRPr/>
          </a:p>
        </p:txBody>
      </p:sp>
      <p:sp>
        <p:nvSpPr>
          <p:cNvPr id="254" name="Google Shape;254;p19"/>
          <p:cNvSpPr/>
          <p:nvPr/>
        </p:nvSpPr>
        <p:spPr>
          <a:xfrm>
            <a:off x="0" y="114300"/>
            <a:ext cx="12192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2714625" y="4428225"/>
            <a:ext cx="8262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2381250" y="3429000"/>
            <a:ext cx="8001000" cy="1662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Tree( already implemented)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Logistic Regression( already implemented)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KNN ( not implemented yet)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381101"/>
            <a:ext cx="25717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2381101"/>
            <a:ext cx="25717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381101"/>
            <a:ext cx="25717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53500" y="2381101"/>
            <a:ext cx="25717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3790801"/>
            <a:ext cx="25717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29000" y="3790801"/>
            <a:ext cx="25717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3790801"/>
            <a:ext cx="25717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3500" y="3790801"/>
            <a:ext cx="25717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5200501"/>
            <a:ext cx="25717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29000" y="5200501"/>
            <a:ext cx="25717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1250" y="5200501"/>
            <a:ext cx="257175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53500" y="5200501"/>
            <a:ext cx="257175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0"/>
          <p:cNvSpPr txBox="1"/>
          <p:nvPr/>
        </p:nvSpPr>
        <p:spPr>
          <a:xfrm>
            <a:off x="666750" y="476250"/>
            <a:ext cx="114015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Let's Play a Guessing Game!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666750" y="1407765"/>
            <a:ext cx="85725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F6368"/>
                </a:solidFill>
                <a:latin typeface="Lato"/>
                <a:ea typeface="Lato"/>
                <a:cs typeface="Lato"/>
                <a:sym typeface="Lato"/>
              </a:rPr>
              <a:t>I am thinking of one of the items below. You can ask me up to  </a:t>
            </a:r>
            <a:r>
              <a:rPr lang="en-US" sz="1800">
                <a:solidFill>
                  <a:srgbClr val="5F6368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="0" i="0" lang="en-US" sz="1800" u="none" cap="none" strike="noStrike">
                <a:solidFill>
                  <a:srgbClr val="5F6368"/>
                </a:solidFill>
                <a:latin typeface="Lato"/>
                <a:ea typeface="Lato"/>
                <a:cs typeface="Lato"/>
                <a:sym typeface="Lato"/>
              </a:rPr>
              <a:t> "Yes/No" questions to figure out which one it is.</a:t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666750" y="6457950"/>
            <a:ext cx="10858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AA0A6"/>
                </a:solidFill>
                <a:latin typeface="Lato"/>
                <a:ea typeface="Lato"/>
                <a:cs typeface="Lato"/>
                <a:sym typeface="Lato"/>
              </a:rPr>
              <a:t>Interactive Activity Game Slide 01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1762125" y="3295501"/>
            <a:ext cx="38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C4043"/>
                </a:solidFill>
                <a:latin typeface="Lato"/>
                <a:ea typeface="Lato"/>
                <a:cs typeface="Lato"/>
                <a:sym typeface="Lato"/>
              </a:rPr>
              <a:t>LION</a:t>
            </a:r>
            <a:endParaRPr/>
          </a:p>
        </p:txBody>
      </p:sp>
      <p:sp>
        <p:nvSpPr>
          <p:cNvPr id="278" name="Google Shape;278;p20"/>
          <p:cNvSpPr txBox="1"/>
          <p:nvPr/>
        </p:nvSpPr>
        <p:spPr>
          <a:xfrm>
            <a:off x="4538662" y="3295501"/>
            <a:ext cx="35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C4043"/>
                </a:solidFill>
                <a:latin typeface="Lato"/>
                <a:ea typeface="Lato"/>
                <a:cs typeface="Lato"/>
                <a:sym typeface="Lato"/>
              </a:rPr>
              <a:t>FISH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7231856" y="3295501"/>
            <a:ext cx="49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C4043"/>
                </a:solidFill>
                <a:latin typeface="Lato"/>
                <a:ea typeface="Lato"/>
                <a:cs typeface="Lato"/>
                <a:sym typeface="Lato"/>
              </a:rPr>
              <a:t>EAGLE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10056018" y="3295501"/>
            <a:ext cx="366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C4043"/>
                </a:solidFill>
                <a:latin typeface="Lato"/>
                <a:ea typeface="Lato"/>
                <a:cs typeface="Lato"/>
                <a:sym typeface="Lato"/>
              </a:rPr>
              <a:t>DOG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1647825" y="4705201"/>
            <a:ext cx="60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C4043"/>
                </a:solidFill>
                <a:latin typeface="Lato"/>
                <a:ea typeface="Lato"/>
                <a:cs typeface="Lato"/>
                <a:sym typeface="Lato"/>
              </a:rPr>
              <a:t>LAPTOP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4555331" y="4705201"/>
            <a:ext cx="31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C4043"/>
                </a:solidFill>
                <a:latin typeface="Lato"/>
                <a:ea typeface="Lato"/>
                <a:cs typeface="Lato"/>
                <a:sym typeface="Lato"/>
              </a:rPr>
              <a:t>CAR</a:t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7243762" y="4705201"/>
            <a:ext cx="46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C4043"/>
                </a:solidFill>
                <a:latin typeface="Lato"/>
                <a:ea typeface="Lato"/>
                <a:cs typeface="Lato"/>
                <a:sym typeface="Lato"/>
              </a:rPr>
              <a:t>BOOK</a:t>
            </a:r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9906000" y="4705201"/>
            <a:ext cx="66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C4043"/>
                </a:solidFill>
                <a:latin typeface="Lato"/>
                <a:ea typeface="Lato"/>
                <a:cs typeface="Lato"/>
                <a:sym typeface="Lato"/>
              </a:rPr>
              <a:t>CAMERA</a:t>
            </a:r>
            <a:endParaRPr/>
          </a:p>
        </p:txBody>
      </p:sp>
      <p:sp>
        <p:nvSpPr>
          <p:cNvPr id="285" name="Google Shape;285;p20"/>
          <p:cNvSpPr txBox="1"/>
          <p:nvPr/>
        </p:nvSpPr>
        <p:spPr>
          <a:xfrm>
            <a:off x="1712118" y="6114901"/>
            <a:ext cx="480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C4043"/>
                </a:solidFill>
                <a:latin typeface="Lato"/>
                <a:ea typeface="Lato"/>
                <a:cs typeface="Lato"/>
                <a:sym typeface="Lato"/>
              </a:rPr>
              <a:t>APPLE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4483893" y="6114901"/>
            <a:ext cx="462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C4043"/>
                </a:solidFill>
                <a:latin typeface="Lato"/>
                <a:ea typeface="Lato"/>
                <a:cs typeface="Lato"/>
                <a:sym typeface="Lato"/>
              </a:rPr>
              <a:t>PIZZA</a:t>
            </a:r>
            <a:endParaRPr/>
          </a:p>
        </p:txBody>
      </p:sp>
      <p:sp>
        <p:nvSpPr>
          <p:cNvPr id="287" name="Google Shape;287;p20"/>
          <p:cNvSpPr txBox="1"/>
          <p:nvPr/>
        </p:nvSpPr>
        <p:spPr>
          <a:xfrm>
            <a:off x="7055643" y="6114901"/>
            <a:ext cx="84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C4043"/>
                </a:solidFill>
                <a:latin typeface="Lato"/>
                <a:ea typeface="Lato"/>
                <a:cs typeface="Lato"/>
                <a:sym typeface="Lato"/>
              </a:rPr>
              <a:t>ICE CREAM</a:t>
            </a:r>
            <a:endParaRPr/>
          </a:p>
        </p:txBody>
      </p:sp>
      <p:sp>
        <p:nvSpPr>
          <p:cNvPr id="288" name="Google Shape;288;p20"/>
          <p:cNvSpPr txBox="1"/>
          <p:nvPr/>
        </p:nvSpPr>
        <p:spPr>
          <a:xfrm>
            <a:off x="9939337" y="6114901"/>
            <a:ext cx="60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C4043"/>
                </a:solidFill>
                <a:latin typeface="Lato"/>
                <a:ea typeface="Lato"/>
                <a:cs typeface="Lato"/>
                <a:sym typeface="Lato"/>
              </a:rPr>
              <a:t>COFFEE</a:t>
            </a:r>
            <a:endParaRPr/>
          </a:p>
        </p:txBody>
      </p:sp>
      <p:sp>
        <p:nvSpPr>
          <p:cNvPr id="289" name="Google Shape;289;p20"/>
          <p:cNvSpPr txBox="1"/>
          <p:nvPr/>
        </p:nvSpPr>
        <p:spPr>
          <a:xfrm>
            <a:off x="1509712" y="7524601"/>
            <a:ext cx="8859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C4043"/>
                </a:solidFill>
                <a:latin typeface="Lato"/>
                <a:ea typeface="Lato"/>
                <a:cs typeface="Lato"/>
                <a:sym typeface="Lato"/>
              </a:rPr>
              <a:t>MOUNTAIN</a:t>
            </a:r>
            <a:endParaRPr/>
          </a:p>
        </p:txBody>
      </p:sp>
      <p:sp>
        <p:nvSpPr>
          <p:cNvPr id="290" name="Google Shape;290;p20"/>
          <p:cNvSpPr txBox="1"/>
          <p:nvPr/>
        </p:nvSpPr>
        <p:spPr>
          <a:xfrm>
            <a:off x="4450556" y="7524601"/>
            <a:ext cx="5286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C4043"/>
                </a:solidFill>
                <a:latin typeface="Lato"/>
                <a:ea typeface="Lato"/>
                <a:cs typeface="Lato"/>
                <a:sym typeface="Lato"/>
              </a:rPr>
              <a:t>BEACH</a:t>
            </a:r>
            <a:endParaRPr/>
          </a:p>
        </p:txBody>
      </p:sp>
      <p:sp>
        <p:nvSpPr>
          <p:cNvPr id="291" name="Google Shape;291;p20"/>
          <p:cNvSpPr txBox="1"/>
          <p:nvPr/>
        </p:nvSpPr>
        <p:spPr>
          <a:xfrm>
            <a:off x="7296150" y="7524601"/>
            <a:ext cx="3621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C4043"/>
                </a:solidFill>
                <a:latin typeface="Lato"/>
                <a:ea typeface="Lato"/>
                <a:cs typeface="Lato"/>
                <a:sym typeface="Lato"/>
              </a:rPr>
              <a:t>CITY</a:t>
            </a:r>
            <a:endParaRPr/>
          </a:p>
        </p:txBody>
      </p:sp>
      <p:sp>
        <p:nvSpPr>
          <p:cNvPr id="292" name="Google Shape;292;p20"/>
          <p:cNvSpPr txBox="1"/>
          <p:nvPr/>
        </p:nvSpPr>
        <p:spPr>
          <a:xfrm>
            <a:off x="9989343" y="7524601"/>
            <a:ext cx="5001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C4043"/>
                </a:solidFill>
                <a:latin typeface="Lato"/>
                <a:ea typeface="Lato"/>
                <a:cs typeface="Lato"/>
                <a:sym typeface="Lato"/>
              </a:rPr>
              <a:t>PLANE</a:t>
            </a:r>
            <a:endParaRPr/>
          </a:p>
        </p:txBody>
      </p:sp>
      <p:pic>
        <p:nvPicPr>
          <p:cNvPr descr="image.png" id="293" name="Google Shape;29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95437" y="2504926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57687" y="2504926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19937" y="2504926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82187" y="2504926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595437" y="3914626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357687" y="3914626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119937" y="3914626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882187" y="3914626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595437" y="5324326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4357687" y="5324326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119937" y="5324326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9882187" y="5324326"/>
            <a:ext cx="714375" cy="7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1"/>
          <p:cNvPicPr preferRelativeResize="0"/>
          <p:nvPr/>
        </p:nvPicPr>
        <p:blipFill rotWithShape="1">
          <a:blip r:embed="rId3">
            <a:alphaModFix/>
          </a:blip>
          <a:srcRect b="0" l="787" r="777" t="0"/>
          <a:stretch/>
        </p:blipFill>
        <p:spPr>
          <a:xfrm>
            <a:off x="152400" y="152400"/>
            <a:ext cx="12039601" cy="6521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05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3" title="ss1.png"/>
          <p:cNvPicPr preferRelativeResize="0"/>
          <p:nvPr/>
        </p:nvPicPr>
        <p:blipFill rotWithShape="1">
          <a:blip r:embed="rId3">
            <a:alphaModFix/>
          </a:blip>
          <a:srcRect b="0" l="149" r="149" t="0"/>
          <a:stretch/>
        </p:blipFill>
        <p:spPr>
          <a:xfrm>
            <a:off x="152400" y="152400"/>
            <a:ext cx="11850896" cy="6705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133350" endA="0" endPos="30000" fadeDir="5400012" kx="0" rotWithShape="0" algn="bl" stPos="0" sy="-100000" ky="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4" name="Google Shape;3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824186"/>
            <a:ext cx="5657850" cy="44623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00850" y="1824186"/>
            <a:ext cx="46291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4"/>
          <p:cNvSpPr txBox="1"/>
          <p:nvPr/>
        </p:nvSpPr>
        <p:spPr>
          <a:xfrm>
            <a:off x="952500" y="919311"/>
            <a:ext cx="1100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From Simulation to Code</a:t>
            </a:r>
            <a:endParaRPr/>
          </a:p>
        </p:txBody>
      </p:sp>
      <p:sp>
        <p:nvSpPr>
          <p:cNvPr id="328" name="Google Shape;328;p24"/>
          <p:cNvSpPr/>
          <p:nvPr/>
        </p:nvSpPr>
        <p:spPr>
          <a:xfrm>
            <a:off x="762000" y="919311"/>
            <a:ext cx="95400" cy="523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4"/>
          <p:cNvSpPr txBox="1"/>
          <p:nvPr/>
        </p:nvSpPr>
        <p:spPr>
          <a:xfrm>
            <a:off x="762000" y="6400800"/>
            <a:ext cx="1066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SADMAN SAKIB | ROLL: 1654 IIT, UNIVERSITY OF DHAKA SPL1 MIDTERM PRESENTATION</a:t>
            </a:r>
            <a:endParaRPr/>
          </a:p>
        </p:txBody>
      </p:sp>
      <p:sp>
        <p:nvSpPr>
          <p:cNvPr id="330" name="Google Shape;330;p24"/>
          <p:cNvSpPr txBox="1"/>
          <p:nvPr/>
        </p:nvSpPr>
        <p:spPr>
          <a:xfrm>
            <a:off x="1400175" y="2176611"/>
            <a:ext cx="466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2147"/>
                </a:solidFill>
                <a:latin typeface="Fira Code"/>
                <a:ea typeface="Fira Code"/>
                <a:cs typeface="Fira Code"/>
                <a:sym typeface="Fira Code"/>
              </a:rPr>
              <a:t> DecisionTree</a:t>
            </a:r>
            <a:r>
              <a:rPr b="1" lang="en-US" sz="1800">
                <a:solidFill>
                  <a:srgbClr val="002147"/>
                </a:solidFill>
                <a:latin typeface="Fira Code"/>
                <a:ea typeface="Fira Code"/>
                <a:cs typeface="Fira Code"/>
                <a:sym typeface="Fira Code"/>
              </a:rPr>
              <a:t> Folder</a:t>
            </a:r>
            <a:endParaRPr/>
          </a:p>
        </p:txBody>
      </p:sp>
      <p:pic>
        <p:nvPicPr>
          <p:cNvPr descr="image.png" id="331" name="Google Shape;33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4425" y="2214711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4"/>
          <p:cNvSpPr txBox="1"/>
          <p:nvPr/>
        </p:nvSpPr>
        <p:spPr>
          <a:xfrm>
            <a:off x="1114425" y="2719521"/>
            <a:ext cx="4953000" cy="3414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7975" lvl="0" marL="45720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rgbClr val="1A1C1E"/>
              </a:buClr>
              <a:buSzPts val="1250"/>
              <a:buChar char="●"/>
            </a:pPr>
            <a:r>
              <a:rPr b="1" lang="en-US" sz="1250">
                <a:solidFill>
                  <a:srgbClr val="1A1C1E"/>
                </a:solidFill>
                <a:highlight>
                  <a:srgbClr val="FFFFFF"/>
                </a:highlight>
              </a:rPr>
              <a:t>The "Blueprint" (</a:t>
            </a:r>
            <a:r>
              <a:rPr b="1" lang="en-US" sz="1250">
                <a:solidFill>
                  <a:srgbClr val="0F0F10"/>
                </a:solidFill>
                <a:highlight>
                  <a:srgbClr val="F4F4F5"/>
                </a:highlight>
                <a:latin typeface="Courier New"/>
                <a:ea typeface="Courier New"/>
                <a:cs typeface="Courier New"/>
                <a:sym typeface="Courier New"/>
              </a:rPr>
              <a:t>DecisionTree.java</a:t>
            </a:r>
            <a:r>
              <a:rPr b="1" lang="en-US" sz="1250">
                <a:solidFill>
                  <a:srgbClr val="1A1C1E"/>
                </a:solidFill>
                <a:highlight>
                  <a:srgbClr val="FFFFFF"/>
                </a:highlight>
              </a:rPr>
              <a:t>)</a:t>
            </a:r>
            <a:endParaRPr b="1" sz="1250">
              <a:solidFill>
                <a:srgbClr val="1A1C1E"/>
              </a:solidFill>
              <a:highlight>
                <a:srgbClr val="FFFFFF"/>
              </a:highlight>
            </a:endParaRPr>
          </a:p>
          <a:p>
            <a:pPr indent="-295275" lvl="1" marL="9144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050"/>
              <a:buChar char="○"/>
            </a:pPr>
            <a:r>
              <a:rPr lang="en-US" sz="1250">
                <a:solidFill>
                  <a:srgbClr val="1A1C1E"/>
                </a:solidFill>
                <a:highlight>
                  <a:srgbClr val="FFFFFF"/>
                </a:highlight>
              </a:rPr>
              <a:t>This main class orchestrates the entire training and prediction process. It contains the core recursive</a:t>
            </a:r>
            <a:r>
              <a:rPr lang="en-US" sz="1450">
                <a:solidFill>
                  <a:srgbClr val="1A1C1E"/>
                </a:solidFill>
                <a:highlight>
                  <a:srgbClr val="FFFFFF"/>
                </a:highlight>
              </a:rPr>
              <a:t> </a:t>
            </a:r>
            <a:r>
              <a:rPr lang="en-US" sz="1450">
                <a:solidFill>
                  <a:srgbClr val="0F0F10"/>
                </a:solidFill>
                <a:highlight>
                  <a:srgbClr val="F4F4F5"/>
                </a:highlight>
                <a:latin typeface="Courier New"/>
                <a:ea typeface="Courier New"/>
                <a:cs typeface="Courier New"/>
                <a:sym typeface="Courier New"/>
              </a:rPr>
              <a:t>buildTree()</a:t>
            </a:r>
            <a:r>
              <a:rPr lang="en-US" sz="1250">
                <a:solidFill>
                  <a:srgbClr val="1A1C1E"/>
                </a:solidFill>
                <a:highlight>
                  <a:srgbClr val="FFFFFF"/>
                </a:highlight>
              </a:rPr>
              <a:t> method and the </a:t>
            </a:r>
            <a:r>
              <a:rPr lang="en-US" sz="1250">
                <a:solidFill>
                  <a:srgbClr val="0F0F10"/>
                </a:solidFill>
                <a:highlight>
                  <a:srgbClr val="F4F4F5"/>
                </a:highlight>
                <a:latin typeface="Courier New"/>
                <a:ea typeface="Courier New"/>
                <a:cs typeface="Courier New"/>
                <a:sym typeface="Courier New"/>
              </a:rPr>
              <a:t>findBestSplit()</a:t>
            </a:r>
            <a:r>
              <a:rPr lang="en-US" sz="1250">
                <a:solidFill>
                  <a:srgbClr val="1A1C1E"/>
                </a:solidFill>
                <a:highlight>
                  <a:srgbClr val="FFFFFF"/>
                </a:highlight>
              </a:rPr>
              <a:t> "brain".</a:t>
            </a:r>
            <a:endParaRPr sz="1250">
              <a:solidFill>
                <a:srgbClr val="1A1C1E"/>
              </a:solidFill>
              <a:highlight>
                <a:srgbClr val="FFFFFF"/>
              </a:highlight>
            </a:endParaRPr>
          </a:p>
          <a:p>
            <a:pPr indent="-3079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250"/>
              <a:buChar char="●"/>
            </a:pPr>
            <a:r>
              <a:rPr b="1" lang="en-US" sz="1250">
                <a:solidFill>
                  <a:srgbClr val="1A1C1E"/>
                </a:solidFill>
                <a:highlight>
                  <a:srgbClr val="FFFFFF"/>
                </a:highlight>
              </a:rPr>
              <a:t>The "Bricks"  (Node.java &amp; SplitCondition.java)</a:t>
            </a:r>
            <a:endParaRPr b="1" sz="1250">
              <a:solidFill>
                <a:srgbClr val="1A1C1E"/>
              </a:solidFill>
              <a:highlight>
                <a:srgbClr val="FFFFFF"/>
              </a:highlight>
            </a:endParaRPr>
          </a:p>
          <a:p>
            <a:pPr indent="-307975" lvl="1" marL="9144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250"/>
              <a:buChar char="○"/>
            </a:pPr>
            <a:r>
              <a:rPr lang="en-US" sz="1250">
                <a:solidFill>
                  <a:srgbClr val="1A1C1E"/>
                </a:solidFill>
                <a:highlight>
                  <a:srgbClr val="FFFFFF"/>
                </a:highlight>
              </a:rPr>
              <a:t>These classes represent the fundamental components of the tree: the "boxes" and "questions" from the flowchart.</a:t>
            </a:r>
            <a:endParaRPr sz="1250">
              <a:solidFill>
                <a:srgbClr val="1A1C1E"/>
              </a:solidFill>
              <a:highlight>
                <a:srgbClr val="FFFFFF"/>
              </a:highlight>
            </a:endParaRPr>
          </a:p>
          <a:p>
            <a:pPr indent="-3079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250"/>
              <a:buChar char="●"/>
            </a:pPr>
            <a:r>
              <a:rPr b="1" lang="en-US" sz="1250">
                <a:solidFill>
                  <a:srgbClr val="1A1C1E"/>
                </a:solidFill>
                <a:highlight>
                  <a:srgbClr val="FFFFFF"/>
                </a:highlight>
              </a:rPr>
              <a:t>The "Tote Box"  (BestSplitResult.java)</a:t>
            </a:r>
            <a:endParaRPr b="1" sz="1250">
              <a:solidFill>
                <a:srgbClr val="1A1C1E"/>
              </a:solidFill>
              <a:highlight>
                <a:srgbClr val="FFFFFF"/>
              </a:highlight>
            </a:endParaRPr>
          </a:p>
          <a:p>
            <a:pPr indent="-307975" lvl="1" marL="9144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250"/>
              <a:buChar char="○"/>
            </a:pPr>
            <a:r>
              <a:rPr lang="en-US" sz="1250">
                <a:solidFill>
                  <a:srgbClr val="1A1C1E"/>
                </a:solidFill>
                <a:highlight>
                  <a:srgbClr val="FFFFFF"/>
                </a:highlight>
              </a:rPr>
              <a:t>A helper class to keep the code clean by neatly passing the results of a split from one method to another.</a:t>
            </a:r>
            <a:endParaRPr sz="1250">
              <a:solidFill>
                <a:srgbClr val="1A1C1E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1A1C1E"/>
              </a:solidFill>
              <a:highlight>
                <a:srgbClr val="FFFFFF"/>
              </a:highlight>
            </a:endParaRPr>
          </a:p>
        </p:txBody>
      </p:sp>
      <p:sp>
        <p:nvSpPr>
          <p:cNvPr id="333" name="Google Shape;333;p24"/>
          <p:cNvSpPr txBox="1"/>
          <p:nvPr/>
        </p:nvSpPr>
        <p:spPr>
          <a:xfrm>
            <a:off x="1114425" y="3433911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4" name="Google Shape;334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51838" y="2143263"/>
            <a:ext cx="3724275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9" name="Google Shape;33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2143125"/>
            <a:ext cx="10039350" cy="517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600700"/>
            <a:ext cx="106680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5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MODEL 2: LOGISTIC REGRESSION</a:t>
            </a:r>
            <a:endParaRPr/>
          </a:p>
        </p:txBody>
      </p:sp>
      <p:sp>
        <p:nvSpPr>
          <p:cNvPr id="343" name="Google Shape;343;p25"/>
          <p:cNvSpPr/>
          <p:nvPr/>
        </p:nvSpPr>
        <p:spPr>
          <a:xfrm>
            <a:off x="762000" y="571500"/>
            <a:ext cx="76200" cy="543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 txBox="1"/>
          <p:nvPr/>
        </p:nvSpPr>
        <p:spPr>
          <a:xfrm>
            <a:off x="762000" y="1219200"/>
            <a:ext cx="10668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Instead of learning rules, Logistic Regression is a statistical model that learns to calculate the probability of each class based on student features.</a:t>
            </a:r>
            <a:endParaRPr/>
          </a:p>
        </p:txBody>
      </p:sp>
      <p:sp>
        <p:nvSpPr>
          <p:cNvPr id="345" name="Google Shape;345;p25"/>
          <p:cNvSpPr txBox="1"/>
          <p:nvPr/>
        </p:nvSpPr>
        <p:spPr>
          <a:xfrm>
            <a:off x="962025" y="5800725"/>
            <a:ext cx="1026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"The final prediction is the class with the highest probability."</a:t>
            </a:r>
            <a:endParaRPr/>
          </a:p>
        </p:txBody>
      </p:sp>
      <p:sp>
        <p:nvSpPr>
          <p:cNvPr id="346" name="Google Shape;346;p25"/>
          <p:cNvSpPr/>
          <p:nvPr/>
        </p:nvSpPr>
        <p:spPr>
          <a:xfrm>
            <a:off x="2590800" y="3500363"/>
            <a:ext cx="800100" cy="28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5"/>
          <p:cNvSpPr/>
          <p:nvPr/>
        </p:nvSpPr>
        <p:spPr>
          <a:xfrm>
            <a:off x="5248275" y="3500363"/>
            <a:ext cx="800100" cy="28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7905750" y="3500500"/>
            <a:ext cx="800100" cy="285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3" name="Google Shape;35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6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STEP 1: CALCULATING RAW SCORES</a:t>
            </a:r>
            <a:endParaRPr/>
          </a:p>
        </p:txBody>
      </p:sp>
      <p:sp>
        <p:nvSpPr>
          <p:cNvPr id="355" name="Google Shape;355;p26"/>
          <p:cNvSpPr/>
          <p:nvPr/>
        </p:nvSpPr>
        <p:spPr>
          <a:xfrm>
            <a:off x="762000" y="571500"/>
            <a:ext cx="76200" cy="543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6"/>
          <p:cNvSpPr txBox="1"/>
          <p:nvPr/>
        </p:nvSpPr>
        <p:spPr>
          <a:xfrm>
            <a:off x="762000" y="2381250"/>
            <a:ext cx="5095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model first calculates a raw score for each class by learning a 'weight' for every feature.</a:t>
            </a:r>
            <a:endParaRPr/>
          </a:p>
        </p:txBody>
      </p:sp>
      <p:sp>
        <p:nvSpPr>
          <p:cNvPr id="357" name="Google Shape;357;p26"/>
          <p:cNvSpPr txBox="1"/>
          <p:nvPr/>
        </p:nvSpPr>
        <p:spPr>
          <a:xfrm>
            <a:off x="6715125" y="4406651"/>
            <a:ext cx="4333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Linear Foundation</a:t>
            </a:r>
            <a:endParaRPr/>
          </a:p>
        </p:txBody>
      </p:sp>
      <p:sp>
        <p:nvSpPr>
          <p:cNvPr id="358" name="Google Shape;358;p26"/>
          <p:cNvSpPr txBox="1"/>
          <p:nvPr/>
        </p:nvSpPr>
        <p:spPr>
          <a:xfrm>
            <a:off x="1095375" y="3105150"/>
            <a:ext cx="4762500" cy="231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z: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Raw score for the current class.</a:t>
            </a:r>
            <a:endParaRPr/>
          </a:p>
        </p:txBody>
      </p:sp>
      <p:sp>
        <p:nvSpPr>
          <p:cNvPr id="359" name="Google Shape;359;p26"/>
          <p:cNvSpPr txBox="1"/>
          <p:nvPr/>
        </p:nvSpPr>
        <p:spPr>
          <a:xfrm>
            <a:off x="1095375" y="3581400"/>
            <a:ext cx="4762500" cy="231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X: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Input feature value (e.g., CGPA).</a:t>
            </a:r>
            <a:endParaRPr/>
          </a:p>
        </p:txBody>
      </p:sp>
      <p:sp>
        <p:nvSpPr>
          <p:cNvPr id="360" name="Google Shape;360;p26"/>
          <p:cNvSpPr txBox="1"/>
          <p:nvPr/>
        </p:nvSpPr>
        <p:spPr>
          <a:xfrm>
            <a:off x="1095375" y="4057650"/>
            <a:ext cx="4762500" cy="231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Learned weight for feature-class connection.</a:t>
            </a:r>
            <a:endParaRPr/>
          </a:p>
        </p:txBody>
      </p:sp>
      <p:sp>
        <p:nvSpPr>
          <p:cNvPr id="361" name="Google Shape;361;p26"/>
          <p:cNvSpPr txBox="1"/>
          <p:nvPr/>
        </p:nvSpPr>
        <p:spPr>
          <a:xfrm>
            <a:off x="1095375" y="4533900"/>
            <a:ext cx="4762500" cy="231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Learned bias for that specific class.</a:t>
            </a:r>
            <a:endParaRPr/>
          </a:p>
        </p:txBody>
      </p:sp>
      <p:pic>
        <p:nvPicPr>
          <p:cNvPr descr="image.png" id="362" name="Google Shape;36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1051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5814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0576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5339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5375" y="1219200"/>
            <a:ext cx="3005900" cy="10572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7" name="Google Shape;367;p26"/>
          <p:cNvPicPr preferRelativeResize="0"/>
          <p:nvPr/>
        </p:nvPicPr>
        <p:blipFill rotWithShape="1">
          <a:blip r:embed="rId6">
            <a:alphaModFix/>
          </a:blip>
          <a:srcRect b="0" l="0" r="42412" t="0"/>
          <a:stretch/>
        </p:blipFill>
        <p:spPr>
          <a:xfrm>
            <a:off x="7291388" y="1315650"/>
            <a:ext cx="31813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2" name="Google Shape;37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622226"/>
            <a:ext cx="5095875" cy="4156471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7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STEP 2: THE SOFTMAX FUNCTION</a:t>
            </a:r>
            <a:endParaRPr/>
          </a:p>
        </p:txBody>
      </p:sp>
      <p:sp>
        <p:nvSpPr>
          <p:cNvPr id="375" name="Google Shape;375;p27"/>
          <p:cNvSpPr/>
          <p:nvPr/>
        </p:nvSpPr>
        <p:spPr>
          <a:xfrm>
            <a:off x="762000" y="571500"/>
            <a:ext cx="76200" cy="543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7"/>
          <p:cNvSpPr txBox="1"/>
          <p:nvPr/>
        </p:nvSpPr>
        <p:spPr>
          <a:xfrm>
            <a:off x="1162050" y="4950023"/>
            <a:ext cx="429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7"/>
          <p:cNvSpPr txBox="1"/>
          <p:nvPr/>
        </p:nvSpPr>
        <p:spPr>
          <a:xfrm>
            <a:off x="6334125" y="2262187"/>
            <a:ext cx="5095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Softmax transforms unbounded scores into a valid probability distribution (0 to 1).</a:t>
            </a:r>
            <a:endParaRPr/>
          </a:p>
        </p:txBody>
      </p:sp>
      <p:sp>
        <p:nvSpPr>
          <p:cNvPr id="378" name="Google Shape;378;p27"/>
          <p:cNvSpPr txBox="1"/>
          <p:nvPr/>
        </p:nvSpPr>
        <p:spPr>
          <a:xfrm>
            <a:off x="6667500" y="2986087"/>
            <a:ext cx="4762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Exponentiation: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Each score is exponentiated to ensure positivity.</a:t>
            </a:r>
            <a:endParaRPr/>
          </a:p>
        </p:txBody>
      </p:sp>
      <p:sp>
        <p:nvSpPr>
          <p:cNvPr id="379" name="Google Shape;379;p27"/>
          <p:cNvSpPr txBox="1"/>
          <p:nvPr/>
        </p:nvSpPr>
        <p:spPr>
          <a:xfrm>
            <a:off x="6667500" y="3700462"/>
            <a:ext cx="4762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Normalization: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Divided by the sum of all exponentiated scores.</a:t>
            </a:r>
            <a:endParaRPr/>
          </a:p>
        </p:txBody>
      </p:sp>
      <p:sp>
        <p:nvSpPr>
          <p:cNvPr id="380" name="Google Shape;380;p27"/>
          <p:cNvSpPr txBox="1"/>
          <p:nvPr/>
        </p:nvSpPr>
        <p:spPr>
          <a:xfrm>
            <a:off x="6667500" y="4414837"/>
            <a:ext cx="4762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Summation: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final probabilities always sum precisely to 1.0.</a:t>
            </a:r>
            <a:endParaRPr/>
          </a:p>
        </p:txBody>
      </p:sp>
      <p:pic>
        <p:nvPicPr>
          <p:cNvPr descr="image.png" id="381" name="Google Shape;38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9860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7004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4148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0500" y="1209675"/>
            <a:ext cx="6038851" cy="44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24625" y="1307906"/>
            <a:ext cx="5423163" cy="483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0" name="Google Shape;39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119687"/>
            <a:ext cx="106680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2" name="Google Shape;39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7125" y="2338375"/>
            <a:ext cx="8277075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8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STEP 3: </a:t>
            </a:r>
            <a:r>
              <a:rPr b="1" i="0" lang="en-US" sz="285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LEARNING VIA GRADIENT DESCENT</a:t>
            </a:r>
            <a:endParaRPr/>
          </a:p>
        </p:txBody>
      </p:sp>
      <p:sp>
        <p:nvSpPr>
          <p:cNvPr id="394" name="Google Shape;394;p28"/>
          <p:cNvSpPr/>
          <p:nvPr/>
        </p:nvSpPr>
        <p:spPr>
          <a:xfrm>
            <a:off x="762000" y="571500"/>
            <a:ext cx="76200" cy="543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8"/>
          <p:cNvSpPr txBox="1"/>
          <p:nvPr/>
        </p:nvSpPr>
        <p:spPr>
          <a:xfrm>
            <a:off x="962025" y="5319673"/>
            <a:ext cx="10258500" cy="231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"This 'Predict → Calculate Error → Update' loop        is repeated thousands of times."</a:t>
            </a:r>
            <a:endParaRPr/>
          </a:p>
        </p:txBody>
      </p:sp>
      <p:sp>
        <p:nvSpPr>
          <p:cNvPr id="396" name="Google Shape;396;p28"/>
          <p:cNvSpPr txBox="1"/>
          <p:nvPr/>
        </p:nvSpPr>
        <p:spPr>
          <a:xfrm>
            <a:off x="762000" y="1766887"/>
            <a:ext cx="5095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model learns by iteratively correcting errors by taking small steps "downhill."</a:t>
            </a:r>
            <a:endParaRPr/>
          </a:p>
        </p:txBody>
      </p:sp>
      <p:sp>
        <p:nvSpPr>
          <p:cNvPr id="397" name="Google Shape;397;p28"/>
          <p:cNvSpPr txBox="1"/>
          <p:nvPr/>
        </p:nvSpPr>
        <p:spPr>
          <a:xfrm>
            <a:off x="952500" y="2476494"/>
            <a:ext cx="471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 Calculate Error:</a:t>
            </a:r>
            <a:endParaRPr/>
          </a:p>
        </p:txBody>
      </p:sp>
      <p:pic>
        <p:nvPicPr>
          <p:cNvPr descr="image.png" id="398" name="Google Shape;398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4725" y="2714603"/>
            <a:ext cx="1457939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8"/>
          <p:cNvSpPr txBox="1"/>
          <p:nvPr/>
        </p:nvSpPr>
        <p:spPr>
          <a:xfrm>
            <a:off x="838200" y="3171799"/>
            <a:ext cx="4829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 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 Calculate Gradient:</a:t>
            </a:r>
            <a:endParaRPr/>
          </a:p>
        </p:txBody>
      </p:sp>
      <p:pic>
        <p:nvPicPr>
          <p:cNvPr descr="image.png" id="400" name="Google Shape;400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3573422"/>
            <a:ext cx="1802406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8"/>
          <p:cNvSpPr txBox="1"/>
          <p:nvPr/>
        </p:nvSpPr>
        <p:spPr>
          <a:xfrm>
            <a:off x="952500" y="4024312"/>
            <a:ext cx="4714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3. Update Weights:</a:t>
            </a:r>
            <a:endParaRPr/>
          </a:p>
        </p:txBody>
      </p:sp>
      <p:pic>
        <p:nvPicPr>
          <p:cNvPr descr="image.png" id="402" name="Google Shape;402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4414804"/>
            <a:ext cx="4946259" cy="497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9"/>
          <p:cNvSpPr txBox="1"/>
          <p:nvPr/>
        </p:nvSpPr>
        <p:spPr>
          <a:xfrm>
            <a:off x="952500" y="571500"/>
            <a:ext cx="11001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LOGISTIC REGRESSION: IMPLEMENTATION</a:t>
            </a:r>
            <a:endParaRPr/>
          </a:p>
        </p:txBody>
      </p:sp>
      <p:sp>
        <p:nvSpPr>
          <p:cNvPr id="408" name="Google Shape;408;p29"/>
          <p:cNvSpPr/>
          <p:nvPr/>
        </p:nvSpPr>
        <p:spPr>
          <a:xfrm>
            <a:off x="762000" y="571500"/>
            <a:ext cx="76200" cy="543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9"/>
          <p:cNvSpPr txBox="1"/>
          <p:nvPr/>
        </p:nvSpPr>
        <p:spPr>
          <a:xfrm>
            <a:off x="1085850" y="1504950"/>
            <a:ext cx="4914900" cy="357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0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00">
                <a:solidFill>
                  <a:srgbClr val="6F42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LogisticRegression</a:t>
            </a: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0F0F1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F0F1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00">
                <a:solidFill>
                  <a:srgbClr val="6A737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Stores the learned parameters</a:t>
            </a:r>
            <a:endParaRPr sz="1000">
              <a:solidFill>
                <a:srgbClr val="0F0F1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0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0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[][] weights;</a:t>
            </a:r>
            <a:endParaRPr sz="1000">
              <a:solidFill>
                <a:srgbClr val="0F0F1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0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0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 biases;</a:t>
            </a:r>
            <a:endParaRPr sz="1000">
              <a:solidFill>
                <a:srgbClr val="0F0F1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F0F1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00">
                <a:solidFill>
                  <a:srgbClr val="6A737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The main learning loop (Gradient Descent)</a:t>
            </a:r>
            <a:endParaRPr sz="1000">
              <a:solidFill>
                <a:srgbClr val="0F0F1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0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0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00">
                <a:solidFill>
                  <a:srgbClr val="6F42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train</a:t>
            </a: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(List&lt;DataPoint&gt; data) {</a:t>
            </a:r>
            <a:endParaRPr sz="1000">
              <a:solidFill>
                <a:srgbClr val="0F0F1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1000">
                <a:solidFill>
                  <a:srgbClr val="6A737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... Predict -&gt; Error -&gt; Update logic ...</a:t>
            </a:r>
            <a:endParaRPr sz="1000">
              <a:solidFill>
                <a:srgbClr val="0F0F1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0F0F1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F0F1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00">
                <a:solidFill>
                  <a:srgbClr val="6A737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Makes a prediction for a new student</a:t>
            </a:r>
            <a:endParaRPr sz="1000">
              <a:solidFill>
                <a:srgbClr val="0F0F1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0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0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00">
                <a:solidFill>
                  <a:srgbClr val="6F42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predict</a:t>
            </a: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(DataPoint dp) {</a:t>
            </a:r>
            <a:endParaRPr sz="1000">
              <a:solidFill>
                <a:srgbClr val="0F0F1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1000">
                <a:solidFill>
                  <a:srgbClr val="6A737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... Implements the full forward pass ...</a:t>
            </a:r>
            <a:endParaRPr sz="1000">
              <a:solidFill>
                <a:srgbClr val="0F0F1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0F0F1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F0F1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00">
                <a:solidFill>
                  <a:srgbClr val="6A737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Helper for the linear score equation</a:t>
            </a:r>
            <a:endParaRPr sz="1000">
              <a:solidFill>
                <a:srgbClr val="0F0F1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0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0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 calculateScores(...) { ... }</a:t>
            </a:r>
            <a:endParaRPr sz="1000">
              <a:solidFill>
                <a:srgbClr val="0F0F1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F0F1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00">
                <a:solidFill>
                  <a:srgbClr val="6A737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Helper for the Softmax probability equation</a:t>
            </a:r>
            <a:endParaRPr sz="1000">
              <a:solidFill>
                <a:srgbClr val="0F0F1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0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00">
                <a:solidFill>
                  <a:srgbClr val="D73A4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 softmax(...) { ... }</a:t>
            </a:r>
            <a:endParaRPr sz="1000">
              <a:solidFill>
                <a:srgbClr val="0F0F1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F0F1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410" name="Google Shape;410;p29"/>
          <p:cNvSpPr txBox="1"/>
          <p:nvPr/>
        </p:nvSpPr>
        <p:spPr>
          <a:xfrm flipH="1">
            <a:off x="6286650" y="1504950"/>
            <a:ext cx="5810100" cy="3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5275" lvl="0" marL="45720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rgbClr val="1A1C1E"/>
              </a:buClr>
              <a:buSzPts val="1050"/>
              <a:buChar char="●"/>
            </a:pPr>
            <a:r>
              <a:rPr lang="en-US" sz="1050">
                <a:solidFill>
                  <a:srgbClr val="0F0F10"/>
                </a:solidFill>
                <a:highlight>
                  <a:srgbClr val="F4F4F5"/>
                </a:highlight>
                <a:latin typeface="Courier New"/>
                <a:ea typeface="Courier New"/>
                <a:cs typeface="Courier New"/>
                <a:sym typeface="Courier New"/>
              </a:rPr>
              <a:t>private double[][] weights;</a:t>
            </a:r>
            <a:endParaRPr sz="1050">
              <a:solidFill>
                <a:srgbClr val="0F0F10"/>
              </a:solidFill>
              <a:highlight>
                <a:srgbClr val="F4F4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1" marL="9144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050"/>
              <a:buChar char="○"/>
            </a:pPr>
            <a:r>
              <a:rPr lang="en-US" sz="1050">
                <a:solidFill>
                  <a:srgbClr val="1A1C1E"/>
                </a:solidFill>
                <a:highlight>
                  <a:srgbClr val="FFFFFF"/>
                </a:highlight>
              </a:rPr>
              <a:t>Stores the learned importance of each feature for each class.</a:t>
            </a:r>
            <a:endParaRPr sz="1050">
              <a:solidFill>
                <a:srgbClr val="1A1C1E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050"/>
              <a:buChar char="●"/>
            </a:pPr>
            <a:r>
              <a:rPr lang="en-US" sz="1050">
                <a:solidFill>
                  <a:srgbClr val="0F0F10"/>
                </a:solidFill>
                <a:highlight>
                  <a:srgbClr val="F4F4F5"/>
                </a:highlight>
                <a:latin typeface="Courier New"/>
                <a:ea typeface="Courier New"/>
                <a:cs typeface="Courier New"/>
                <a:sym typeface="Courier New"/>
              </a:rPr>
              <a:t>private double[] biases;</a:t>
            </a:r>
            <a:endParaRPr sz="1050">
              <a:solidFill>
                <a:srgbClr val="0F0F10"/>
              </a:solidFill>
              <a:highlight>
                <a:srgbClr val="F4F4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1" marL="9144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050"/>
              <a:buChar char="○"/>
            </a:pPr>
            <a:r>
              <a:rPr lang="en-US" sz="1050">
                <a:solidFill>
                  <a:srgbClr val="1A1C1E"/>
                </a:solidFill>
                <a:highlight>
                  <a:srgbClr val="FFFFFF"/>
                </a:highlight>
              </a:rPr>
              <a:t>Stores the baseline score for each class.</a:t>
            </a:r>
            <a:endParaRPr sz="1050">
              <a:solidFill>
                <a:srgbClr val="1A1C1E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050"/>
              <a:buChar char="●"/>
            </a:pPr>
            <a:r>
              <a:rPr lang="en-US" sz="1050">
                <a:solidFill>
                  <a:srgbClr val="0F0F10"/>
                </a:solidFill>
                <a:highlight>
                  <a:srgbClr val="F4F4F5"/>
                </a:highlight>
                <a:latin typeface="Courier New"/>
                <a:ea typeface="Courier New"/>
                <a:cs typeface="Courier New"/>
                <a:sym typeface="Courier New"/>
              </a:rPr>
              <a:t>public void train(...)</a:t>
            </a:r>
            <a:endParaRPr sz="1050">
              <a:solidFill>
                <a:srgbClr val="0F0F10"/>
              </a:solidFill>
              <a:highlight>
                <a:srgbClr val="F4F4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1" marL="9144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050"/>
              <a:buChar char="○"/>
            </a:pPr>
            <a:r>
              <a:rPr lang="en-US" sz="1050">
                <a:solidFill>
                  <a:srgbClr val="1A1C1E"/>
                </a:solidFill>
                <a:highlight>
                  <a:srgbClr val="FFFFFF"/>
                </a:highlight>
              </a:rPr>
              <a:t>The main training loop. Implements Gradient Descent to iteratively adjust weights and biases to minimize error.</a:t>
            </a:r>
            <a:endParaRPr sz="1050">
              <a:solidFill>
                <a:srgbClr val="1A1C1E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050"/>
              <a:buChar char="●"/>
            </a:pPr>
            <a:r>
              <a:rPr lang="en-US" sz="1050">
                <a:solidFill>
                  <a:srgbClr val="0F0F10"/>
                </a:solidFill>
                <a:highlight>
                  <a:srgbClr val="F4F4F5"/>
                </a:highlight>
                <a:latin typeface="Courier New"/>
                <a:ea typeface="Courier New"/>
                <a:cs typeface="Courier New"/>
                <a:sym typeface="Courier New"/>
              </a:rPr>
              <a:t>public int predict(...)</a:t>
            </a:r>
            <a:endParaRPr sz="1050">
              <a:solidFill>
                <a:srgbClr val="0F0F10"/>
              </a:solidFill>
              <a:highlight>
                <a:srgbClr val="F4F4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1" marL="9144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050"/>
              <a:buChar char="○"/>
            </a:pPr>
            <a:r>
              <a:rPr lang="en-US" sz="1050">
                <a:solidFill>
                  <a:srgbClr val="1A1C1E"/>
                </a:solidFill>
                <a:highlight>
                  <a:srgbClr val="FFFFFF"/>
                </a:highlight>
              </a:rPr>
              <a:t>Makes a final prediction for a new student by performing the full "Forward Pass".</a:t>
            </a:r>
            <a:endParaRPr sz="1050">
              <a:solidFill>
                <a:srgbClr val="1A1C1E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050"/>
              <a:buChar char="●"/>
            </a:pPr>
            <a:r>
              <a:rPr lang="en-US" sz="1050">
                <a:solidFill>
                  <a:srgbClr val="0F0F10"/>
                </a:solidFill>
                <a:highlight>
                  <a:srgbClr val="F4F4F5"/>
                </a:highlight>
                <a:latin typeface="Courier New"/>
                <a:ea typeface="Courier New"/>
                <a:cs typeface="Courier New"/>
                <a:sym typeface="Courier New"/>
              </a:rPr>
              <a:t>private double[] calculateScores(...)</a:t>
            </a:r>
            <a:endParaRPr sz="1050">
              <a:solidFill>
                <a:srgbClr val="0F0F10"/>
              </a:solidFill>
              <a:highlight>
                <a:srgbClr val="F4F4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1" marL="9144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050"/>
              <a:buChar char="○"/>
            </a:pPr>
            <a:r>
              <a:rPr lang="en-US" sz="1050">
                <a:solidFill>
                  <a:srgbClr val="1A1C1E"/>
                </a:solidFill>
                <a:highlight>
                  <a:srgbClr val="FFFFFF"/>
                </a:highlight>
              </a:rPr>
              <a:t>A helper method that calculates the raw linear scores (the Z vector) for each class.</a:t>
            </a:r>
            <a:endParaRPr sz="1050">
              <a:solidFill>
                <a:srgbClr val="1A1C1E"/>
              </a:solidFill>
              <a:highlight>
                <a:srgbClr val="FFFFFF"/>
              </a:highlight>
            </a:endParaRPr>
          </a:p>
          <a:p>
            <a:pPr indent="-295275" lvl="0" marL="4572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050"/>
              <a:buChar char="●"/>
            </a:pPr>
            <a:r>
              <a:rPr lang="en-US" sz="1050">
                <a:solidFill>
                  <a:srgbClr val="0F0F10"/>
                </a:solidFill>
                <a:highlight>
                  <a:srgbClr val="F4F4F5"/>
                </a:highlight>
                <a:latin typeface="Courier New"/>
                <a:ea typeface="Courier New"/>
                <a:cs typeface="Courier New"/>
                <a:sym typeface="Courier New"/>
              </a:rPr>
              <a:t>private double[] softmax(...)</a:t>
            </a:r>
            <a:endParaRPr sz="1050">
              <a:solidFill>
                <a:srgbClr val="0F0F10"/>
              </a:solidFill>
              <a:highlight>
                <a:srgbClr val="F4F4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1" marL="9144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1A1C1E"/>
              </a:buClr>
              <a:buSzPts val="1050"/>
              <a:buChar char="○"/>
            </a:pPr>
            <a:r>
              <a:rPr lang="en-US" sz="1050">
                <a:solidFill>
                  <a:srgbClr val="1A1C1E"/>
                </a:solidFill>
                <a:highlight>
                  <a:srgbClr val="FFFFFF"/>
                </a:highlight>
              </a:rPr>
              <a:t>A helper method that converts the raw scores into a final probability distribution.</a:t>
            </a:r>
            <a:endParaRPr sz="1050">
              <a:solidFill>
                <a:srgbClr val="1A1C1E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5" name="Google Shape;41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5789860"/>
            <a:ext cx="106680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0"/>
          <p:cNvSpPr txBox="1"/>
          <p:nvPr/>
        </p:nvSpPr>
        <p:spPr>
          <a:xfrm>
            <a:off x="952500" y="903535"/>
            <a:ext cx="1100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Model 3: K-Nearest Neighbors (KNN)</a:t>
            </a:r>
            <a:endParaRPr/>
          </a:p>
        </p:txBody>
      </p:sp>
      <p:sp>
        <p:nvSpPr>
          <p:cNvPr id="417" name="Google Shape;417;p30"/>
          <p:cNvSpPr/>
          <p:nvPr/>
        </p:nvSpPr>
        <p:spPr>
          <a:xfrm>
            <a:off x="762000" y="903535"/>
            <a:ext cx="95400" cy="60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0"/>
          <p:cNvSpPr txBox="1"/>
          <p:nvPr/>
        </p:nvSpPr>
        <p:spPr>
          <a:xfrm>
            <a:off x="762000" y="6410325"/>
            <a:ext cx="1066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SADMAN SAKIB | ROLL: 1654 IIT, UNIVERSITY OF DHAKA SPL1 MIDTERM PRESENTATION</a:t>
            </a:r>
            <a:endParaRPr/>
          </a:p>
        </p:txBody>
      </p:sp>
      <p:sp>
        <p:nvSpPr>
          <p:cNvPr id="419" name="Google Shape;419;p30"/>
          <p:cNvSpPr txBox="1"/>
          <p:nvPr/>
        </p:nvSpPr>
        <p:spPr>
          <a:xfrm>
            <a:off x="762000" y="1789360"/>
            <a:ext cx="530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The Core Idea</a:t>
            </a:r>
            <a:endParaRPr/>
          </a:p>
        </p:txBody>
      </p:sp>
      <p:sp>
        <p:nvSpPr>
          <p:cNvPr id="420" name="Google Shape;420;p30"/>
          <p:cNvSpPr txBox="1"/>
          <p:nvPr/>
        </p:nvSpPr>
        <p:spPr>
          <a:xfrm>
            <a:off x="762000" y="2418010"/>
            <a:ext cx="5048400" cy="277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"You are defined by the company you keep."</a:t>
            </a:r>
            <a:endParaRPr/>
          </a:p>
        </p:txBody>
      </p:sp>
      <p:sp>
        <p:nvSpPr>
          <p:cNvPr id="421" name="Google Shape;421;p30"/>
          <p:cNvSpPr/>
          <p:nvPr/>
        </p:nvSpPr>
        <p:spPr>
          <a:xfrm>
            <a:off x="762000" y="2789485"/>
            <a:ext cx="5048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0"/>
          <p:cNvSpPr txBox="1"/>
          <p:nvPr/>
        </p:nvSpPr>
        <p:spPr>
          <a:xfrm>
            <a:off x="1095375" y="3037135"/>
            <a:ext cx="4714800" cy="577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Finding the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K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most "similar" students (the neighbors) from the training data.</a:t>
            </a:r>
            <a:endParaRPr/>
          </a:p>
        </p:txBody>
      </p:sp>
      <p:sp>
        <p:nvSpPr>
          <p:cNvPr id="423" name="Google Shape;423;p30"/>
          <p:cNvSpPr txBox="1"/>
          <p:nvPr/>
        </p:nvSpPr>
        <p:spPr>
          <a:xfrm>
            <a:off x="1095375" y="3799135"/>
            <a:ext cx="4714800" cy="577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Taking a majority vote of those neighbors' labels to decide the final class.</a:t>
            </a:r>
            <a:endParaRPr/>
          </a:p>
        </p:txBody>
      </p:sp>
      <p:pic>
        <p:nvPicPr>
          <p:cNvPr descr="image.png" id="424" name="Google Shape;42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79998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5" name="Google Shape;42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84199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34000" y="1169562"/>
            <a:ext cx="5048400" cy="456179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0"/>
          <p:cNvSpPr txBox="1"/>
          <p:nvPr/>
        </p:nvSpPr>
        <p:spPr>
          <a:xfrm>
            <a:off x="8801100" y="4781550"/>
            <a:ext cx="104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k=3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0"/>
          <p:cNvSpPr txBox="1"/>
          <p:nvPr/>
        </p:nvSpPr>
        <p:spPr>
          <a:xfrm>
            <a:off x="10591800" y="5486400"/>
            <a:ext cx="1638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k=5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3" name="Google Shape;43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4" name="Google Shape;43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924550"/>
            <a:ext cx="106680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5" name="Google Shape;435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7750" y="61138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1"/>
          <p:cNvSpPr txBox="1"/>
          <p:nvPr/>
        </p:nvSpPr>
        <p:spPr>
          <a:xfrm>
            <a:off x="1666875" y="404825"/>
            <a:ext cx="67107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Part 3:                               </a:t>
            </a:r>
            <a:r>
              <a:rPr b="1" i="0" lang="en-US" sz="330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EVALUATION &amp; ANALYSIS PLAN</a:t>
            </a:r>
            <a:endParaRPr/>
          </a:p>
        </p:txBody>
      </p:sp>
      <p:sp>
        <p:nvSpPr>
          <p:cNvPr id="437" name="Google Shape;437;p31"/>
          <p:cNvSpPr txBox="1"/>
          <p:nvPr/>
        </p:nvSpPr>
        <p:spPr>
          <a:xfrm>
            <a:off x="762000" y="6124575"/>
            <a:ext cx="2028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SADMAN SAKIB | ROLL: 1654</a:t>
            </a:r>
            <a:endParaRPr/>
          </a:p>
        </p:txBody>
      </p:sp>
      <p:sp>
        <p:nvSpPr>
          <p:cNvPr id="438" name="Google Shape;438;p31"/>
          <p:cNvSpPr txBox="1"/>
          <p:nvPr/>
        </p:nvSpPr>
        <p:spPr>
          <a:xfrm>
            <a:off x="5057775" y="6124575"/>
            <a:ext cx="1924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IIT, UNIVERSITY OF DHAKA</a:t>
            </a:r>
            <a:endParaRPr/>
          </a:p>
        </p:txBody>
      </p:sp>
      <p:sp>
        <p:nvSpPr>
          <p:cNvPr id="439" name="Google Shape;439;p31"/>
          <p:cNvSpPr txBox="1"/>
          <p:nvPr/>
        </p:nvSpPr>
        <p:spPr>
          <a:xfrm>
            <a:off x="9248775" y="6124575"/>
            <a:ext cx="2181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SPL1 MIDTERM PRESENTATION</a:t>
            </a:r>
            <a:endParaRPr/>
          </a:p>
        </p:txBody>
      </p:sp>
      <p:sp>
        <p:nvSpPr>
          <p:cNvPr id="440" name="Google Shape;440;p31"/>
          <p:cNvSpPr txBox="1"/>
          <p:nvPr/>
        </p:nvSpPr>
        <p:spPr>
          <a:xfrm>
            <a:off x="1076325" y="1508670"/>
            <a:ext cx="497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Evaluation Metrics</a:t>
            </a:r>
            <a:endParaRPr/>
          </a:p>
        </p:txBody>
      </p:sp>
      <p:sp>
        <p:nvSpPr>
          <p:cNvPr id="441" name="Google Shape;441;p31"/>
          <p:cNvSpPr txBox="1"/>
          <p:nvPr/>
        </p:nvSpPr>
        <p:spPr>
          <a:xfrm>
            <a:off x="6724650" y="1508670"/>
            <a:ext cx="494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Analysis Goals</a:t>
            </a:r>
            <a:endParaRPr/>
          </a:p>
        </p:txBody>
      </p:sp>
      <p:pic>
        <p:nvPicPr>
          <p:cNvPr descr="image.png" id="442" name="Google Shape;442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159439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1"/>
          <p:cNvSpPr txBox="1"/>
          <p:nvPr/>
        </p:nvSpPr>
        <p:spPr>
          <a:xfrm>
            <a:off x="1095375" y="2146845"/>
            <a:ext cx="4714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Confusion Matrix</a:t>
            </a:r>
            <a:endParaRPr/>
          </a:p>
        </p:txBody>
      </p:sp>
      <p:sp>
        <p:nvSpPr>
          <p:cNvPr id="444" name="Google Shape;444;p31"/>
          <p:cNvSpPr txBox="1"/>
          <p:nvPr/>
        </p:nvSpPr>
        <p:spPr>
          <a:xfrm>
            <a:off x="1095375" y="2672506"/>
            <a:ext cx="4714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Overall Accuracy</a:t>
            </a:r>
            <a:endParaRPr/>
          </a:p>
        </p:txBody>
      </p:sp>
      <p:sp>
        <p:nvSpPr>
          <p:cNvPr id="445" name="Google Shape;445;p31"/>
          <p:cNvSpPr txBox="1"/>
          <p:nvPr/>
        </p:nvSpPr>
        <p:spPr>
          <a:xfrm>
            <a:off x="1095375" y="3198167"/>
            <a:ext cx="4714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Precision (per class)</a:t>
            </a:r>
            <a:endParaRPr/>
          </a:p>
        </p:txBody>
      </p:sp>
      <p:sp>
        <p:nvSpPr>
          <p:cNvPr id="446" name="Google Shape;446;p31"/>
          <p:cNvSpPr txBox="1"/>
          <p:nvPr/>
        </p:nvSpPr>
        <p:spPr>
          <a:xfrm>
            <a:off x="1095375" y="3723828"/>
            <a:ext cx="4714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Recall (per class)</a:t>
            </a:r>
            <a:endParaRPr/>
          </a:p>
        </p:txBody>
      </p:sp>
      <p:pic>
        <p:nvPicPr>
          <p:cNvPr descr="image.png" id="447" name="Google Shape;447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159439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1"/>
          <p:cNvSpPr txBox="1"/>
          <p:nvPr/>
        </p:nvSpPr>
        <p:spPr>
          <a:xfrm>
            <a:off x="6610350" y="2276321"/>
            <a:ext cx="4819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Identify the best-performing model for this dataset.</a:t>
            </a:r>
            <a:endParaRPr/>
          </a:p>
        </p:txBody>
      </p:sp>
      <p:sp>
        <p:nvSpPr>
          <p:cNvPr id="449" name="Google Shape;449;p31"/>
          <p:cNvSpPr txBox="1"/>
          <p:nvPr/>
        </p:nvSpPr>
        <p:spPr>
          <a:xfrm>
            <a:off x="6715125" y="2802025"/>
            <a:ext cx="4714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Analyze the specific error patterns of each model.</a:t>
            </a:r>
            <a:endParaRPr/>
          </a:p>
        </p:txBody>
      </p:sp>
      <p:sp>
        <p:nvSpPr>
          <p:cNvPr id="450" name="Google Shape;450;p31"/>
          <p:cNvSpPr/>
          <p:nvPr/>
        </p:nvSpPr>
        <p:spPr>
          <a:xfrm>
            <a:off x="0" y="114300"/>
            <a:ext cx="12192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51" name="Google Shape;451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14684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2" name="Google Shape;452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67250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3" name="Google Shape;453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319816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4" name="Google Shape;454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372382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5" name="Google Shape;455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81750" y="279335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6" name="Google Shape;456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81750" y="2271266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1" name="Google Shape;46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2" name="Google Shape;46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6115050"/>
            <a:ext cx="106680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3" name="Google Shape;463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270521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32"/>
          <p:cNvSpPr txBox="1"/>
          <p:nvPr/>
        </p:nvSpPr>
        <p:spPr>
          <a:xfrm>
            <a:off x="952500" y="571500"/>
            <a:ext cx="1100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OTHER GOALS WITH THIS PROJECT</a:t>
            </a:r>
            <a:endParaRPr/>
          </a:p>
        </p:txBody>
      </p:sp>
      <p:sp>
        <p:nvSpPr>
          <p:cNvPr id="465" name="Google Shape;465;p32"/>
          <p:cNvSpPr/>
          <p:nvPr/>
        </p:nvSpPr>
        <p:spPr>
          <a:xfrm>
            <a:off x="762000" y="571500"/>
            <a:ext cx="95400" cy="6192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2"/>
          <p:cNvSpPr txBox="1"/>
          <p:nvPr/>
        </p:nvSpPr>
        <p:spPr>
          <a:xfrm>
            <a:off x="762000" y="6315075"/>
            <a:ext cx="2028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SADMAN SAKIB | ROLL: 1654</a:t>
            </a:r>
            <a:endParaRPr/>
          </a:p>
        </p:txBody>
      </p:sp>
      <p:sp>
        <p:nvSpPr>
          <p:cNvPr id="467" name="Google Shape;467;p32"/>
          <p:cNvSpPr txBox="1"/>
          <p:nvPr/>
        </p:nvSpPr>
        <p:spPr>
          <a:xfrm>
            <a:off x="5048250" y="6315075"/>
            <a:ext cx="1924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IIT, UNIVERSITY OF DHAKA</a:t>
            </a:r>
            <a:endParaRPr/>
          </a:p>
        </p:txBody>
      </p:sp>
      <p:sp>
        <p:nvSpPr>
          <p:cNvPr id="468" name="Google Shape;468;p32"/>
          <p:cNvSpPr txBox="1"/>
          <p:nvPr/>
        </p:nvSpPr>
        <p:spPr>
          <a:xfrm>
            <a:off x="9229725" y="6315075"/>
            <a:ext cx="220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FUTURE DEVELOPMENT PHASE</a:t>
            </a:r>
            <a:endParaRPr/>
          </a:p>
        </p:txBody>
      </p:sp>
      <p:pic>
        <p:nvPicPr>
          <p:cNvPr descr="image.png" id="469" name="Google Shape;469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22952" y="2797224"/>
            <a:ext cx="2280195" cy="228019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2"/>
          <p:cNvSpPr txBox="1"/>
          <p:nvPr/>
        </p:nvSpPr>
        <p:spPr>
          <a:xfrm>
            <a:off x="1190625" y="1571625"/>
            <a:ext cx="6334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Complete Model Evaluation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Run all models on the test set and generate final comparison tables for Accuracy, Precision, and Recall.</a:t>
            </a:r>
            <a:endParaRPr/>
          </a:p>
        </p:txBody>
      </p:sp>
      <p:sp>
        <p:nvSpPr>
          <p:cNvPr id="471" name="Google Shape;471;p32"/>
          <p:cNvSpPr txBox="1"/>
          <p:nvPr/>
        </p:nvSpPr>
        <p:spPr>
          <a:xfrm>
            <a:off x="1190625" y="2754510"/>
            <a:ext cx="6334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Hyperparameter Tuning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Experiment with settings like maxDepth or learningRate to optimize predictive performance.</a:t>
            </a:r>
            <a:endParaRPr/>
          </a:p>
        </p:txBody>
      </p:sp>
      <p:sp>
        <p:nvSpPr>
          <p:cNvPr id="472" name="Google Shape;472;p32"/>
          <p:cNvSpPr txBox="1"/>
          <p:nvPr/>
        </p:nvSpPr>
        <p:spPr>
          <a:xfrm>
            <a:off x="1190625" y="3937396"/>
            <a:ext cx="6334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Implement Optional Models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Build Random Forest and Gaussian Naïve Bayes classifiers for a more comprehensive comparison.</a:t>
            </a:r>
            <a:endParaRPr/>
          </a:p>
        </p:txBody>
      </p:sp>
      <p:sp>
        <p:nvSpPr>
          <p:cNvPr id="473" name="Google Shape;473;p32"/>
          <p:cNvSpPr txBox="1"/>
          <p:nvPr/>
        </p:nvSpPr>
        <p:spPr>
          <a:xfrm>
            <a:off x="1190625" y="5120282"/>
            <a:ext cx="6334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147"/>
                </a:solidFill>
                <a:latin typeface="Lato"/>
                <a:ea typeface="Lato"/>
                <a:cs typeface="Lato"/>
                <a:sym typeface="Lato"/>
              </a:rPr>
              <a:t>Develop Interactive Module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Create a keyword-based response system to provide simple lifestyle suggestions based on predictions.</a:t>
            </a:r>
            <a:endParaRPr/>
          </a:p>
        </p:txBody>
      </p:sp>
      <p:pic>
        <p:nvPicPr>
          <p:cNvPr descr="image.png" id="474" name="Google Shape;474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1614487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5" name="Google Shape;475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797373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6" name="Google Shape;476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3980259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7" name="Google Shape;477;p3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" y="5163145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2"/>
          <p:cNvSpPr/>
          <p:nvPr/>
        </p:nvSpPr>
        <p:spPr>
          <a:xfrm>
            <a:off x="0" y="114300"/>
            <a:ext cx="12192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3" name="Google Shape;48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4" name="Google Shape;48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17662"/>
            <a:ext cx="3365450" cy="4268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5" name="Google Shape;485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017662"/>
            <a:ext cx="3365450" cy="4268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6" name="Google Shape;486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017662"/>
            <a:ext cx="3365450" cy="4268837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33"/>
          <p:cNvSpPr txBox="1"/>
          <p:nvPr/>
        </p:nvSpPr>
        <p:spPr>
          <a:xfrm>
            <a:off x="762000" y="950862"/>
            <a:ext cx="1120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Current Project Progress</a:t>
            </a:r>
            <a:endParaRPr/>
          </a:p>
        </p:txBody>
      </p:sp>
      <p:sp>
        <p:nvSpPr>
          <p:cNvPr id="488" name="Google Shape;488;p33"/>
          <p:cNvSpPr txBox="1"/>
          <p:nvPr/>
        </p:nvSpPr>
        <p:spPr>
          <a:xfrm>
            <a:off x="762000" y="6315075"/>
            <a:ext cx="10668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AA0A6"/>
                </a:solidFill>
                <a:latin typeface="Lato"/>
                <a:ea typeface="Lato"/>
                <a:cs typeface="Lato"/>
                <a:sym typeface="Lato"/>
              </a:rPr>
              <a:t>PROJECT STATUS BOARD MIDTERM PRESENTATION 2025</a:t>
            </a:r>
            <a:endParaRPr/>
          </a:p>
        </p:txBody>
      </p:sp>
      <p:sp>
        <p:nvSpPr>
          <p:cNvPr id="489" name="Google Shape;489;p33"/>
          <p:cNvSpPr txBox="1"/>
          <p:nvPr/>
        </p:nvSpPr>
        <p:spPr>
          <a:xfrm>
            <a:off x="962025" y="3351162"/>
            <a:ext cx="311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1. Data Pipeline</a:t>
            </a:r>
            <a:endParaRPr/>
          </a:p>
        </p:txBody>
      </p:sp>
      <p:sp>
        <p:nvSpPr>
          <p:cNvPr id="490" name="Google Shape;490;p33"/>
          <p:cNvSpPr txBox="1"/>
          <p:nvPr/>
        </p:nvSpPr>
        <p:spPr>
          <a:xfrm>
            <a:off x="4613225" y="3351162"/>
            <a:ext cx="311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2. Model Implementation</a:t>
            </a:r>
            <a:endParaRPr/>
          </a:p>
        </p:txBody>
      </p:sp>
      <p:sp>
        <p:nvSpPr>
          <p:cNvPr id="491" name="Google Shape;491;p33"/>
          <p:cNvSpPr txBox="1"/>
          <p:nvPr/>
        </p:nvSpPr>
        <p:spPr>
          <a:xfrm>
            <a:off x="8264425" y="3351162"/>
            <a:ext cx="3113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3. Evaluation &amp; Analysis</a:t>
            </a:r>
            <a:endParaRPr/>
          </a:p>
        </p:txBody>
      </p:sp>
      <p:pic>
        <p:nvPicPr>
          <p:cNvPr descr="image.png" id="492" name="Google Shape;492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3605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3"/>
          <p:cNvSpPr txBox="1"/>
          <p:nvPr/>
        </p:nvSpPr>
        <p:spPr>
          <a:xfrm>
            <a:off x="1457325" y="2412950"/>
            <a:ext cx="666900" cy="16170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E8E3E"/>
                </a:solidFill>
                <a:latin typeface="Poppins"/>
                <a:ea typeface="Poppins"/>
                <a:cs typeface="Poppins"/>
                <a:sym typeface="Poppins"/>
              </a:rPr>
              <a:t>DONE</a:t>
            </a:r>
            <a:endParaRPr/>
          </a:p>
        </p:txBody>
      </p:sp>
      <p:sp>
        <p:nvSpPr>
          <p:cNvPr id="494" name="Google Shape;494;p33"/>
          <p:cNvSpPr txBox="1"/>
          <p:nvPr/>
        </p:nvSpPr>
        <p:spPr>
          <a:xfrm>
            <a:off x="1247775" y="3855987"/>
            <a:ext cx="2679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5F6368"/>
                </a:solidFill>
                <a:latin typeface="Lato"/>
                <a:ea typeface="Lato"/>
                <a:cs typeface="Lato"/>
                <a:sym typeface="Lato"/>
              </a:rPr>
              <a:t>Load Raw CSV Data</a:t>
            </a:r>
            <a:endParaRPr/>
          </a:p>
        </p:txBody>
      </p:sp>
      <p:sp>
        <p:nvSpPr>
          <p:cNvPr id="495" name="Google Shape;495;p33"/>
          <p:cNvSpPr txBox="1"/>
          <p:nvPr/>
        </p:nvSpPr>
        <p:spPr>
          <a:xfrm>
            <a:off x="1247775" y="4254103"/>
            <a:ext cx="2679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5F6368"/>
                </a:solidFill>
                <a:latin typeface="Lato"/>
                <a:ea typeface="Lato"/>
                <a:cs typeface="Lato"/>
                <a:sym typeface="Lato"/>
              </a:rPr>
              <a:t>Encode Text &amp; Ranges to Numbers</a:t>
            </a:r>
            <a:endParaRPr/>
          </a:p>
        </p:txBody>
      </p:sp>
      <p:sp>
        <p:nvSpPr>
          <p:cNvPr id="496" name="Google Shape;496;p33"/>
          <p:cNvSpPr txBox="1"/>
          <p:nvPr/>
        </p:nvSpPr>
        <p:spPr>
          <a:xfrm>
            <a:off x="1247775" y="4652218"/>
            <a:ext cx="2679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5F6368"/>
                </a:solidFill>
                <a:latin typeface="Lato"/>
                <a:ea typeface="Lato"/>
                <a:cs typeface="Lato"/>
                <a:sym typeface="Lato"/>
              </a:rPr>
              <a:t>Handle Complex Parsing</a:t>
            </a:r>
            <a:endParaRPr/>
          </a:p>
        </p:txBody>
      </p:sp>
      <p:sp>
        <p:nvSpPr>
          <p:cNvPr id="497" name="Google Shape;497;p33"/>
          <p:cNvSpPr txBox="1"/>
          <p:nvPr/>
        </p:nvSpPr>
        <p:spPr>
          <a:xfrm>
            <a:off x="1247775" y="5050333"/>
            <a:ext cx="2679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5F6368"/>
                </a:solidFill>
                <a:latin typeface="Lato"/>
                <a:ea typeface="Lato"/>
                <a:cs typeface="Lato"/>
                <a:sym typeface="Lato"/>
              </a:rPr>
              <a:t>Split Data into Train/Test Sets</a:t>
            </a:r>
            <a:endParaRPr/>
          </a:p>
        </p:txBody>
      </p:sp>
      <p:pic>
        <p:nvPicPr>
          <p:cNvPr descr="image.png" id="498" name="Google Shape;498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23605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33"/>
          <p:cNvSpPr txBox="1"/>
          <p:nvPr/>
        </p:nvSpPr>
        <p:spPr>
          <a:xfrm>
            <a:off x="5108525" y="2412950"/>
            <a:ext cx="1238400" cy="161700"/>
          </a:xfrm>
          <a:prstGeom prst="rect">
            <a:avLst/>
          </a:prstGeom>
          <a:solidFill>
            <a:srgbClr val="FEF7E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06000"/>
                </a:solidFill>
                <a:latin typeface="Poppins"/>
                <a:ea typeface="Poppins"/>
                <a:cs typeface="Poppins"/>
                <a:sym typeface="Poppins"/>
              </a:rPr>
              <a:t>IN PROGRESS</a:t>
            </a:r>
            <a:endParaRPr/>
          </a:p>
        </p:txBody>
      </p:sp>
      <p:sp>
        <p:nvSpPr>
          <p:cNvPr id="500" name="Google Shape;500;p33"/>
          <p:cNvSpPr txBox="1"/>
          <p:nvPr/>
        </p:nvSpPr>
        <p:spPr>
          <a:xfrm>
            <a:off x="4898975" y="3855987"/>
            <a:ext cx="2679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5F6368"/>
                </a:solidFill>
                <a:latin typeface="Lato"/>
                <a:ea typeface="Lato"/>
                <a:cs typeface="Lato"/>
                <a:sym typeface="Lato"/>
              </a:rPr>
              <a:t>Decision Tree</a:t>
            </a:r>
            <a:endParaRPr/>
          </a:p>
        </p:txBody>
      </p:sp>
      <p:sp>
        <p:nvSpPr>
          <p:cNvPr id="501" name="Google Shape;501;p33"/>
          <p:cNvSpPr txBox="1"/>
          <p:nvPr/>
        </p:nvSpPr>
        <p:spPr>
          <a:xfrm>
            <a:off x="4898975" y="4254103"/>
            <a:ext cx="2679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5F6368"/>
                </a:solidFill>
                <a:latin typeface="Lato"/>
                <a:ea typeface="Lato"/>
                <a:cs typeface="Lato"/>
                <a:sym typeface="Lato"/>
              </a:rPr>
              <a:t>Logistic Regression</a:t>
            </a:r>
            <a:endParaRPr/>
          </a:p>
        </p:txBody>
      </p:sp>
      <p:sp>
        <p:nvSpPr>
          <p:cNvPr id="502" name="Google Shape;502;p33"/>
          <p:cNvSpPr txBox="1"/>
          <p:nvPr/>
        </p:nvSpPr>
        <p:spPr>
          <a:xfrm>
            <a:off x="4898975" y="4652218"/>
            <a:ext cx="2679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5F6368"/>
                </a:solidFill>
                <a:latin typeface="Lato"/>
                <a:ea typeface="Lato"/>
                <a:cs typeface="Lato"/>
                <a:sym typeface="Lato"/>
              </a:rPr>
              <a:t>K-Nearest Neighbors (KNN)</a:t>
            </a:r>
            <a:endParaRPr/>
          </a:p>
        </p:txBody>
      </p:sp>
      <p:pic>
        <p:nvPicPr>
          <p:cNvPr descr="image.png" id="503" name="Google Shape;503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64425" y="23605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3"/>
          <p:cNvSpPr txBox="1"/>
          <p:nvPr/>
        </p:nvSpPr>
        <p:spPr>
          <a:xfrm>
            <a:off x="8759725" y="2412950"/>
            <a:ext cx="638100" cy="1617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F6368"/>
                </a:solidFill>
                <a:latin typeface="Poppins"/>
                <a:ea typeface="Poppins"/>
                <a:cs typeface="Poppins"/>
                <a:sym typeface="Poppins"/>
              </a:rPr>
              <a:t>NEXT</a:t>
            </a:r>
            <a:endParaRPr/>
          </a:p>
        </p:txBody>
      </p:sp>
      <p:sp>
        <p:nvSpPr>
          <p:cNvPr id="505" name="Google Shape;505;p33"/>
          <p:cNvSpPr txBox="1"/>
          <p:nvPr/>
        </p:nvSpPr>
        <p:spPr>
          <a:xfrm>
            <a:off x="8550175" y="3855987"/>
            <a:ext cx="26796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5F6368"/>
                </a:solidFill>
                <a:latin typeface="Lato"/>
                <a:ea typeface="Lato"/>
                <a:cs typeface="Lato"/>
                <a:sym typeface="Lato"/>
              </a:rPr>
              <a:t>Build Confusion Matrix for each model</a:t>
            </a:r>
            <a:endParaRPr/>
          </a:p>
        </p:txBody>
      </p:sp>
      <p:sp>
        <p:nvSpPr>
          <p:cNvPr id="506" name="Google Shape;506;p33"/>
          <p:cNvSpPr txBox="1"/>
          <p:nvPr/>
        </p:nvSpPr>
        <p:spPr>
          <a:xfrm>
            <a:off x="8550175" y="4254103"/>
            <a:ext cx="26796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5F6368"/>
                </a:solidFill>
                <a:latin typeface="Lato"/>
                <a:ea typeface="Lato"/>
                <a:cs typeface="Lato"/>
                <a:sym typeface="Lato"/>
              </a:rPr>
              <a:t>Calculate Accuracy, Precision, &amp; Recall</a:t>
            </a:r>
            <a:endParaRPr/>
          </a:p>
        </p:txBody>
      </p:sp>
      <p:sp>
        <p:nvSpPr>
          <p:cNvPr id="507" name="Google Shape;507;p33"/>
          <p:cNvSpPr txBox="1"/>
          <p:nvPr/>
        </p:nvSpPr>
        <p:spPr>
          <a:xfrm>
            <a:off x="8550175" y="4878883"/>
            <a:ext cx="26796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5F6368"/>
                </a:solidFill>
                <a:latin typeface="Lato"/>
                <a:ea typeface="Lato"/>
                <a:cs typeface="Lato"/>
                <a:sym typeface="Lato"/>
              </a:rPr>
              <a:t>Compare Models &amp; Analyze Results</a:t>
            </a:r>
            <a:endParaRPr/>
          </a:p>
        </p:txBody>
      </p:sp>
      <p:pic>
        <p:nvPicPr>
          <p:cNvPr descr="image.png" id="508" name="Google Shape;508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13225" y="4671268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9" name="Google Shape;509;p3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264425" y="387503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0" name="Google Shape;510;p3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264425" y="4273153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1" name="Google Shape;511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64425" y="4897933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2" name="Google Shape;512;p3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2025" y="38702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3" name="Google Shape;513;p3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2025" y="426839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4" name="Google Shape;514;p3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2025" y="466650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5" name="Google Shape;515;p3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2025" y="506462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6" name="Google Shape;516;p3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13225" y="38702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7" name="Google Shape;517;p3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13225" y="4268390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2" name="Google Shape;52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3" name="Google Shape;52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096000"/>
            <a:ext cx="11049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4"/>
          <p:cNvSpPr txBox="1"/>
          <p:nvPr/>
        </p:nvSpPr>
        <p:spPr>
          <a:xfrm>
            <a:off x="3190636" y="2771775"/>
            <a:ext cx="58107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202124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525" name="Google Shape;525;p34"/>
          <p:cNvSpPr txBox="1"/>
          <p:nvPr/>
        </p:nvSpPr>
        <p:spPr>
          <a:xfrm>
            <a:off x="4781550" y="4829175"/>
            <a:ext cx="262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73E8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526" name="Google Shape;526;p34"/>
          <p:cNvSpPr txBox="1"/>
          <p:nvPr/>
        </p:nvSpPr>
        <p:spPr>
          <a:xfrm>
            <a:off x="3833812" y="6296025"/>
            <a:ext cx="4524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02124"/>
                </a:solidFill>
                <a:latin typeface="Lato"/>
                <a:ea typeface="Lato"/>
                <a:cs typeface="Lato"/>
                <a:sym typeface="Lato"/>
              </a:rPr>
              <a:t>SADMAN SAKIB</a:t>
            </a:r>
            <a:r>
              <a:rPr b="0" i="0" lang="en-US" sz="1200" u="none" cap="none" strike="noStrike">
                <a:solidFill>
                  <a:srgbClr val="5F6368"/>
                </a:solidFill>
                <a:latin typeface="Lato"/>
                <a:ea typeface="Lato"/>
                <a:cs typeface="Lato"/>
                <a:sym typeface="Lato"/>
              </a:rPr>
              <a:t> | ROLL: 1654 | IIT, UNIVERSITY OF DHAKA</a:t>
            </a:r>
            <a:endParaRPr/>
          </a:p>
        </p:txBody>
      </p:sp>
      <p:pic>
        <p:nvPicPr>
          <p:cNvPr descr="image.png" id="527" name="Google Shape;527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24500" y="1343025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