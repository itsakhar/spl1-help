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Poppins"/>
      <p:regular r:id="rId20"/>
      <p:bold r:id="rId21"/>
      <p:italic r:id="rId22"/>
      <p:boldItalic r:id="rId23"/>
    </p:embeddedFont>
    <p:embeddedFont>
      <p:font typeface="Noto Sans Symbols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3EECD1A-932F-4A83-AB1A-52AF0A2C94DD}">
  <a:tblStyle styleId="{53EECD1A-932F-4A83-AB1A-52AF0A2C94D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regular.fntdata"/><Relationship Id="rId22" Type="http://schemas.openxmlformats.org/officeDocument/2006/relationships/font" Target="fonts/Poppins-italic.fntdata"/><Relationship Id="rId21" Type="http://schemas.openxmlformats.org/officeDocument/2006/relationships/font" Target="fonts/Poppins-bold.fntdata"/><Relationship Id="rId24" Type="http://schemas.openxmlformats.org/officeDocument/2006/relationships/font" Target="fonts/NotoSansSymbols-regular.fntdata"/><Relationship Id="rId23" Type="http://schemas.openxmlformats.org/officeDocument/2006/relationships/font" Target="fonts/Poppins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NotoSansSymbol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05cca18ba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e05cca18b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e05cca18ba_0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e05cca18ba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05cca18ba_0_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05cca18ba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05cca18ba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e05cca18ba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chemeClr val="lt1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/>
          <p:nvPr>
            <p:ph type="title"/>
          </p:nvPr>
        </p:nvSpPr>
        <p:spPr>
          <a:xfrm>
            <a:off x="3543840" y="1530000"/>
            <a:ext cx="4831560" cy="187848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" name="Google Shape;9;p2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" type="blank">
  <p:cSld name="BLANK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title"/>
          </p:nvPr>
        </p:nvSpPr>
        <p:spPr>
          <a:xfrm>
            <a:off x="720000" y="1474560"/>
            <a:ext cx="3519360" cy="165744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" name="Google Shape;12;p3"/>
          <p:cNvSpPr txBox="1"/>
          <p:nvPr>
            <p:ph idx="1" type="body"/>
          </p:nvPr>
        </p:nvSpPr>
        <p:spPr>
          <a:xfrm>
            <a:off x="5066640" y="567360"/>
            <a:ext cx="3519360" cy="461556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grpSp>
        <p:nvGrpSpPr>
          <p:cNvPr id="13" name="Google Shape;13;p3"/>
          <p:cNvGrpSpPr/>
          <p:nvPr/>
        </p:nvGrpSpPr>
        <p:grpSpPr>
          <a:xfrm>
            <a:off x="-79920" y="2880"/>
            <a:ext cx="9231480" cy="5180400"/>
            <a:chOff x="-79920" y="2880"/>
            <a:chExt cx="9231480" cy="5180400"/>
          </a:xfrm>
        </p:grpSpPr>
        <p:cxnSp>
          <p:nvCxnSpPr>
            <p:cNvPr id="14" name="Google Shape;14;p3"/>
            <p:cNvCxnSpPr/>
            <p:nvPr/>
          </p:nvCxnSpPr>
          <p:spPr>
            <a:xfrm>
              <a:off x="8589240" y="2880"/>
              <a:ext cx="360" cy="518040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" name="Google Shape;15;p3"/>
            <p:cNvCxnSpPr/>
            <p:nvPr/>
          </p:nvCxnSpPr>
          <p:spPr>
            <a:xfrm flipH="1">
              <a:off x="8590680" y="167760"/>
              <a:ext cx="396360" cy="39672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" name="Google Shape;16;p3"/>
            <p:cNvCxnSpPr/>
            <p:nvPr/>
          </p:nvCxnSpPr>
          <p:spPr>
            <a:xfrm rot="10800000">
              <a:off x="8192160" y="167760"/>
              <a:ext cx="794880" cy="79488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3"/>
            <p:cNvCxnSpPr/>
            <p:nvPr/>
          </p:nvCxnSpPr>
          <p:spPr>
            <a:xfrm>
              <a:off x="-79920" y="564840"/>
              <a:ext cx="9231480" cy="36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" type="titleOnly">
  <p:cSld name="TITLE_ONLY">
    <p:bg>
      <p:bgPr>
        <a:solidFill>
          <a:schemeClr val="l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720000" y="597600"/>
            <a:ext cx="770364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1" name="Google Shape;21;p4"/>
          <p:cNvSpPr/>
          <p:nvPr/>
        </p:nvSpPr>
        <p:spPr>
          <a:xfrm>
            <a:off x="4320" y="5400"/>
            <a:ext cx="446040" cy="44604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cxnSp>
        <p:nvCxnSpPr>
          <p:cNvPr id="22" name="Google Shape;22;p4"/>
          <p:cNvCxnSpPr/>
          <p:nvPr/>
        </p:nvCxnSpPr>
        <p:spPr>
          <a:xfrm>
            <a:off x="394920" y="451080"/>
            <a:ext cx="8825400" cy="36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3" name="Google Shape;23;p4"/>
          <p:cNvGrpSpPr/>
          <p:nvPr/>
        </p:nvGrpSpPr>
        <p:grpSpPr>
          <a:xfrm>
            <a:off x="8511480" y="451440"/>
            <a:ext cx="1256040" cy="1256400"/>
            <a:chOff x="8511480" y="451440"/>
            <a:chExt cx="1256040" cy="1256400"/>
          </a:xfrm>
        </p:grpSpPr>
        <p:cxnSp>
          <p:nvCxnSpPr>
            <p:cNvPr id="24" name="Google Shape;24;p4"/>
            <p:cNvCxnSpPr/>
            <p:nvPr/>
          </p:nvCxnSpPr>
          <p:spPr>
            <a:xfrm>
              <a:off x="9139320" y="451440"/>
              <a:ext cx="360" cy="125640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" name="Google Shape;25;p4"/>
            <p:cNvCxnSpPr/>
            <p:nvPr/>
          </p:nvCxnSpPr>
          <p:spPr>
            <a:xfrm flipH="1">
              <a:off x="8695440" y="635400"/>
              <a:ext cx="888120" cy="88848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" name="Google Shape;26;p4"/>
            <p:cNvCxnSpPr/>
            <p:nvPr/>
          </p:nvCxnSpPr>
          <p:spPr>
            <a:xfrm rot="10800000">
              <a:off x="8695440" y="635400"/>
              <a:ext cx="888120" cy="88848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" name="Google Shape;27;p4"/>
            <p:cNvCxnSpPr/>
            <p:nvPr/>
          </p:nvCxnSpPr>
          <p:spPr>
            <a:xfrm>
              <a:off x="8511480" y="1079280"/>
              <a:ext cx="1256040" cy="36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28" name="Google Shape;28;p4"/>
          <p:cNvCxnSpPr/>
          <p:nvPr/>
        </p:nvCxnSpPr>
        <p:spPr>
          <a:xfrm>
            <a:off x="450720" y="304560"/>
            <a:ext cx="360" cy="493704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0">
  <p:cSld name="CUSTOM_10">
    <p:bg>
      <p:bgPr>
        <a:solidFill>
          <a:schemeClr val="lt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oogle Shape;32;p5"/>
          <p:cNvGrpSpPr/>
          <p:nvPr/>
        </p:nvGrpSpPr>
        <p:grpSpPr>
          <a:xfrm>
            <a:off x="2160" y="-720"/>
            <a:ext cx="9295560" cy="4436640"/>
            <a:chOff x="2160" y="-720"/>
            <a:chExt cx="9295560" cy="4436640"/>
          </a:xfrm>
        </p:grpSpPr>
        <p:cxnSp>
          <p:nvCxnSpPr>
            <p:cNvPr id="33" name="Google Shape;33;p5"/>
            <p:cNvCxnSpPr/>
            <p:nvPr/>
          </p:nvCxnSpPr>
          <p:spPr>
            <a:xfrm>
              <a:off x="711360" y="-720"/>
              <a:ext cx="360" cy="443664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4" name="Google Shape;34;p5"/>
            <p:cNvCxnSpPr/>
            <p:nvPr/>
          </p:nvCxnSpPr>
          <p:spPr>
            <a:xfrm>
              <a:off x="317520" y="162000"/>
              <a:ext cx="392760" cy="39348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" name="Google Shape;35;p5"/>
            <p:cNvCxnSpPr/>
            <p:nvPr/>
          </p:nvCxnSpPr>
          <p:spPr>
            <a:xfrm flipH="1" rot="10800000">
              <a:off x="317520" y="162000"/>
              <a:ext cx="788040" cy="78804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" name="Google Shape;36;p5"/>
            <p:cNvCxnSpPr/>
            <p:nvPr/>
          </p:nvCxnSpPr>
          <p:spPr>
            <a:xfrm flipH="1">
              <a:off x="2160" y="555840"/>
              <a:ext cx="9295560" cy="36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37" name="Google Shape;37;p5"/>
          <p:cNvCxnSpPr/>
          <p:nvPr/>
        </p:nvCxnSpPr>
        <p:spPr>
          <a:xfrm flipH="1">
            <a:off x="0" y="4605840"/>
            <a:ext cx="9548280" cy="36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" name="Google Shape;38;p5"/>
          <p:cNvSpPr txBox="1"/>
          <p:nvPr>
            <p:ph type="title"/>
          </p:nvPr>
        </p:nvSpPr>
        <p:spPr>
          <a:xfrm>
            <a:off x="4834800" y="1322280"/>
            <a:ext cx="3519360" cy="165744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713160" y="558720"/>
            <a:ext cx="3816720" cy="404892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3_1">
  <p:cSld name="CUSTOM_3_1">
    <p:bg>
      <p:bgPr>
        <a:solidFill>
          <a:schemeClr val="lt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854280" y="501840"/>
            <a:ext cx="4739400" cy="1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3" name="Google Shape;43;p6"/>
          <p:cNvSpPr/>
          <p:nvPr/>
        </p:nvSpPr>
        <p:spPr>
          <a:xfrm>
            <a:off x="898560" y="3611880"/>
            <a:ext cx="4717080" cy="5558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CREDITS: This presentation template was created by </a:t>
            </a:r>
            <a:r>
              <a:rPr b="0" i="0" lang="en-US" sz="1000" u="sng" cap="none" strike="noStrike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2"/>
              </a:rPr>
              <a:t>Slidesgo</a:t>
            </a:r>
            <a:r>
              <a:rPr b="0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includes icons by </a:t>
            </a:r>
            <a:r>
              <a:rPr b="0" i="0" lang="en-US" sz="1000" u="sng" cap="none" strike="noStrike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3"/>
              </a:rPr>
              <a:t>Flaticon</a:t>
            </a:r>
            <a:r>
              <a:rPr b="0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infographics &amp; images by </a:t>
            </a:r>
            <a:r>
              <a:rPr b="0" i="0" lang="en-US" sz="1000" u="sng" cap="none" strike="noStrike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4"/>
              </a:rPr>
              <a:t>Freepik</a:t>
            </a:r>
            <a:r>
              <a:rPr b="0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0" i="0" sz="10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4.png"/><Relationship Id="rId6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Relationship Id="rId4" Type="http://schemas.openxmlformats.org/officeDocument/2006/relationships/image" Target="../media/image16.png"/><Relationship Id="rId5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7"/>
          <p:cNvGrpSpPr/>
          <p:nvPr/>
        </p:nvGrpSpPr>
        <p:grpSpPr>
          <a:xfrm>
            <a:off x="0" y="1827720"/>
            <a:ext cx="3316320" cy="3316680"/>
            <a:chOff x="0" y="1827720"/>
            <a:chExt cx="3316320" cy="3316680"/>
          </a:xfrm>
        </p:grpSpPr>
        <p:cxnSp>
          <p:nvCxnSpPr>
            <p:cNvPr id="50" name="Google Shape;50;p7"/>
            <p:cNvCxnSpPr/>
            <p:nvPr/>
          </p:nvCxnSpPr>
          <p:spPr>
            <a:xfrm>
              <a:off x="1657800" y="1827720"/>
              <a:ext cx="360" cy="331668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" name="Google Shape;51;p7"/>
            <p:cNvCxnSpPr/>
            <p:nvPr/>
          </p:nvCxnSpPr>
          <p:spPr>
            <a:xfrm flipH="1">
              <a:off x="485640" y="2313360"/>
              <a:ext cx="2345040" cy="234540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2" name="Google Shape;52;p7"/>
            <p:cNvCxnSpPr/>
            <p:nvPr/>
          </p:nvCxnSpPr>
          <p:spPr>
            <a:xfrm rot="10800000">
              <a:off x="485640" y="2313720"/>
              <a:ext cx="2345040" cy="234504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" name="Google Shape;53;p7"/>
            <p:cNvCxnSpPr/>
            <p:nvPr/>
          </p:nvCxnSpPr>
          <p:spPr>
            <a:xfrm>
              <a:off x="0" y="3485880"/>
              <a:ext cx="3316320" cy="36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54" name="Google Shape;54;p7"/>
          <p:cNvCxnSpPr/>
          <p:nvPr/>
        </p:nvCxnSpPr>
        <p:spPr>
          <a:xfrm>
            <a:off x="3324960" y="-4680"/>
            <a:ext cx="360" cy="519696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" name="Google Shape;55;p7"/>
          <p:cNvCxnSpPr/>
          <p:nvPr/>
        </p:nvCxnSpPr>
        <p:spPr>
          <a:xfrm>
            <a:off x="3324960" y="3485880"/>
            <a:ext cx="5865840" cy="36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" name="Google Shape;56;p7"/>
          <p:cNvCxnSpPr/>
          <p:nvPr/>
        </p:nvCxnSpPr>
        <p:spPr>
          <a:xfrm>
            <a:off x="3324960" y="1276200"/>
            <a:ext cx="5865840" cy="36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7"/>
          <p:cNvCxnSpPr/>
          <p:nvPr/>
        </p:nvCxnSpPr>
        <p:spPr>
          <a:xfrm>
            <a:off x="3324960" y="4095720"/>
            <a:ext cx="5865840" cy="36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7"/>
          <p:cNvSpPr/>
          <p:nvPr/>
        </p:nvSpPr>
        <p:spPr>
          <a:xfrm>
            <a:off x="3316325" y="-64300"/>
            <a:ext cx="5818800" cy="14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3800" u="none" cap="none" strike="noStrike">
                <a:solidFill>
                  <a:srgbClr val="9B72CB"/>
                </a:solidFill>
                <a:latin typeface="Calibri"/>
                <a:ea typeface="Calibri"/>
                <a:cs typeface="Calibri"/>
                <a:sym typeface="Calibri"/>
              </a:rPr>
              <a:t>Mental Health Stress Prediction</a:t>
            </a:r>
            <a:r>
              <a:rPr lang="en-US" sz="3800">
                <a:solidFill>
                  <a:srgbClr val="9B72C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3800" u="none" cap="none" strike="noStrike">
                <a:solidFill>
                  <a:srgbClr val="9B72CB"/>
                </a:solidFill>
                <a:latin typeface="Calibri"/>
                <a:ea typeface="Calibri"/>
                <a:cs typeface="Calibri"/>
                <a:sym typeface="Calibri"/>
              </a:rPr>
              <a:t>Using ML</a:t>
            </a:r>
            <a:endParaRPr b="0" i="0" sz="3800" u="none" cap="none" strike="noStrike">
              <a:solidFill>
                <a:srgbClr val="9B72C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7"/>
          <p:cNvSpPr/>
          <p:nvPr/>
        </p:nvSpPr>
        <p:spPr>
          <a:xfrm>
            <a:off x="4396925" y="2062995"/>
            <a:ext cx="3657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Sadman Sakib</a:t>
            </a:r>
            <a:b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Exam </a:t>
            </a:r>
            <a:r>
              <a:rPr b="0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Roll: </a:t>
            </a:r>
            <a:r>
              <a:rPr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245406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7"/>
          <p:cNvSpPr/>
          <p:nvPr/>
        </p:nvSpPr>
        <p:spPr>
          <a:xfrm>
            <a:off x="3333950" y="3653888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D9F2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E5D9F2"/>
                </a:solidFill>
                <a:latin typeface="Calibri"/>
                <a:ea typeface="Calibri"/>
                <a:cs typeface="Calibri"/>
                <a:sym typeface="Calibri"/>
              </a:rPr>
              <a:t>SUPERVISOR: Dr. Emon Kumar Dey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7"/>
          <p:cNvSpPr txBox="1"/>
          <p:nvPr/>
        </p:nvSpPr>
        <p:spPr>
          <a:xfrm>
            <a:off x="4511025" y="42637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SPL1 Final PRESENTATION, 2025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Institute of Information Technology, University of Dhaka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" name="Google Shape;6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863" y="220400"/>
            <a:ext cx="2586600" cy="141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68" name="Google Shape;68;p8"/>
          <p:cNvSpPr/>
          <p:nvPr/>
        </p:nvSpPr>
        <p:spPr>
          <a:xfrm>
            <a:off x="145925" y="84135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lang="en-US" sz="3000">
                <a:solidFill>
                  <a:srgbClr val="6B46A8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i="0" lang="en-US" sz="3000" u="none" cap="none" strike="noStrike">
                <a:solidFill>
                  <a:srgbClr val="6B46A8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 b="0" i="0" sz="3000" u="none" cap="none" strike="noStrike">
              <a:solidFill>
                <a:srgbClr val="6B46A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8"/>
          <p:cNvSpPr/>
          <p:nvPr/>
        </p:nvSpPr>
        <p:spPr>
          <a:xfrm>
            <a:off x="328780" y="730415"/>
            <a:ext cx="786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800" u="none" cap="none" strike="noStrike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Project Goal</a:t>
            </a:r>
            <a:endParaRPr b="0" i="0" sz="1800" u="none" cap="none" strike="noStrike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8"/>
          <p:cNvSpPr/>
          <p:nvPr/>
        </p:nvSpPr>
        <p:spPr>
          <a:xfrm>
            <a:off x="328780" y="1193725"/>
            <a:ext cx="7863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Develop a machine learning system to</a:t>
            </a:r>
            <a:r>
              <a:rPr b="1" i="0" lang="en-US" sz="1400" cap="none" strike="noStrike">
                <a:solidFill>
                  <a:srgbClr val="FFD966"/>
                </a:solidFill>
                <a:latin typeface="Calibri"/>
                <a:ea typeface="Calibri"/>
                <a:cs typeface="Calibri"/>
                <a:sym typeface="Calibri"/>
              </a:rPr>
              <a:t> predict student stress levels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(Low, Moderate, High) using demographic and psychological data.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8"/>
          <p:cNvSpPr/>
          <p:nvPr/>
        </p:nvSpPr>
        <p:spPr>
          <a:xfrm>
            <a:off x="328775" y="2537323"/>
            <a:ext cx="7792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800" u="none" cap="none" strike="noStrike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Key Highlights</a:t>
            </a:r>
            <a:endParaRPr b="0" i="0" sz="1800" u="none" cap="none" strike="noStrike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8"/>
          <p:cNvSpPr/>
          <p:nvPr/>
        </p:nvSpPr>
        <p:spPr>
          <a:xfrm>
            <a:off x="328775" y="2750350"/>
            <a:ext cx="8783100" cy="19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i="0" lang="en-US" sz="1300" u="none" cap="none" strike="noStrike">
                <a:solidFill>
                  <a:srgbClr val="FFD966"/>
                </a:solidFill>
                <a:latin typeface="Calibri"/>
                <a:ea typeface="Calibri"/>
                <a:cs typeface="Calibri"/>
                <a:sym typeface="Calibri"/>
              </a:rPr>
              <a:t>Dataset:</a:t>
            </a:r>
            <a:r>
              <a:rPr b="1" lang="en-US" sz="1300">
                <a:solidFill>
                  <a:srgbClr val="FFD96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30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A survey-based dataset </a:t>
            </a:r>
            <a:r>
              <a:rPr b="1" lang="en-US" sz="130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MHP Dataset)</a:t>
            </a:r>
            <a:r>
              <a:rPr b="1" lang="en-US" sz="130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 of 2,028 Bangladeshi university students across 15 institutions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300" u="none" cap="none" strike="noStrike">
                <a:solidFill>
                  <a:srgbClr val="FFD966"/>
                </a:solidFill>
                <a:latin typeface="Calibri"/>
                <a:ea typeface="Calibri"/>
                <a:cs typeface="Calibri"/>
                <a:sym typeface="Calibri"/>
              </a:rPr>
              <a:t>Approach</a:t>
            </a:r>
            <a:r>
              <a:rPr b="0" i="0" lang="en-US" sz="1300" u="none" cap="none" strike="noStrike">
                <a:solidFill>
                  <a:srgbClr val="FFE599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From-scratch implementation in Java (no ML libraries)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300" u="none" cap="none" strike="noStrike">
                <a:solidFill>
                  <a:srgbClr val="FFD966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r>
              <a:rPr b="0" i="0" lang="en-US" sz="1300" u="none" cap="none" strike="noStrike">
                <a:solidFill>
                  <a:srgbClr val="FFE599"/>
                </a:solidFill>
                <a:latin typeface="Calibri"/>
                <a:ea typeface="Calibri"/>
                <a:cs typeface="Calibri"/>
                <a:sym typeface="Calibri"/>
              </a:rPr>
              <a:t>s:</a:t>
            </a: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Decision Tree, Logistic Regression, K-Nearest Neighbors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b="0" i="0" lang="en-US" sz="1300" u="none" cap="none" strike="noStrike">
                <a:solidFill>
                  <a:srgbClr val="FFE59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300" u="none" cap="none" strike="noStrike">
                <a:solidFill>
                  <a:srgbClr val="FFD966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r>
              <a:rPr b="0" i="0" lang="en-US" sz="1300" u="none" cap="none" strike="noStrike">
                <a:solidFill>
                  <a:srgbClr val="FFE599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10-Fold Cross-Validation with iterative optimization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300" u="none" cap="none" strike="noStrike">
                <a:solidFill>
                  <a:srgbClr val="FFD966"/>
                </a:solidFill>
                <a:latin typeface="Calibri"/>
                <a:ea typeface="Calibri"/>
                <a:cs typeface="Calibri"/>
                <a:sym typeface="Calibri"/>
              </a:rPr>
              <a:t>Best Performance: </a:t>
            </a: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72.8% recall for Low stress, 78.9% for High stress (Act 4)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"/>
          <p:cNvSpPr txBox="1"/>
          <p:nvPr>
            <p:ph idx="12" type="sldNum"/>
          </p:nvPr>
        </p:nvSpPr>
        <p:spPr>
          <a:xfrm>
            <a:off x="8595309" y="475000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78" name="Google Shape;78;p9"/>
          <p:cNvSpPr txBox="1"/>
          <p:nvPr/>
        </p:nvSpPr>
        <p:spPr>
          <a:xfrm>
            <a:off x="415050" y="-59300"/>
            <a:ext cx="4876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6B46A8"/>
                </a:solidFill>
                <a:latin typeface="Calibri"/>
                <a:ea typeface="Calibri"/>
                <a:cs typeface="Calibri"/>
                <a:sym typeface="Calibri"/>
              </a:rPr>
              <a:t>Dataset Overview</a:t>
            </a:r>
            <a:endParaRPr/>
          </a:p>
        </p:txBody>
      </p:sp>
      <p:sp>
        <p:nvSpPr>
          <p:cNvPr id="79" name="Google Shape;79;p9"/>
          <p:cNvSpPr/>
          <p:nvPr/>
        </p:nvSpPr>
        <p:spPr>
          <a:xfrm>
            <a:off x="533625" y="617800"/>
            <a:ext cx="3542700" cy="20172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9"/>
          <p:cNvSpPr txBox="1"/>
          <p:nvPr/>
        </p:nvSpPr>
        <p:spPr>
          <a:xfrm>
            <a:off x="546375" y="771700"/>
            <a:ext cx="40464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A86E8"/>
                </a:solidFill>
              </a:rPr>
              <a:t> Demographic Features</a:t>
            </a:r>
            <a:r>
              <a:rPr lang="en-US" sz="2000"/>
              <a:t>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  </a:t>
            </a:r>
            <a:r>
              <a:rPr lang="en-US" sz="2000"/>
              <a:t>• </a:t>
            </a:r>
            <a:r>
              <a:rPr lang="en-US" sz="2000"/>
              <a:t>Age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  • Gender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  • Academic Year</a:t>
            </a:r>
            <a:r>
              <a:rPr lang="en-US"/>
              <a:t> </a:t>
            </a:r>
            <a:endParaRPr/>
          </a:p>
        </p:txBody>
      </p:sp>
      <p:sp>
        <p:nvSpPr>
          <p:cNvPr id="81" name="Google Shape;81;p9"/>
          <p:cNvSpPr/>
          <p:nvPr/>
        </p:nvSpPr>
        <p:spPr>
          <a:xfrm>
            <a:off x="4758100" y="617800"/>
            <a:ext cx="3705900" cy="20172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9"/>
          <p:cNvSpPr/>
          <p:nvPr/>
        </p:nvSpPr>
        <p:spPr>
          <a:xfrm>
            <a:off x="546375" y="2776600"/>
            <a:ext cx="3542700" cy="22038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9"/>
          <p:cNvSpPr/>
          <p:nvPr/>
        </p:nvSpPr>
        <p:spPr>
          <a:xfrm>
            <a:off x="4817400" y="2776600"/>
            <a:ext cx="3542700" cy="20853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9"/>
          <p:cNvSpPr txBox="1"/>
          <p:nvPr/>
        </p:nvSpPr>
        <p:spPr>
          <a:xfrm>
            <a:off x="4906627" y="617800"/>
            <a:ext cx="35427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A86E8"/>
                </a:solidFill>
              </a:rPr>
              <a:t>Academic Features</a:t>
            </a:r>
            <a:r>
              <a:rPr lang="en-US" sz="2000">
                <a:solidFill>
                  <a:srgbClr val="4A86E8"/>
                </a:solidFill>
              </a:rPr>
              <a:t> </a:t>
            </a:r>
            <a:endParaRPr sz="2000">
              <a:solidFill>
                <a:srgbClr val="4A86E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</a:rPr>
              <a:t>• </a:t>
            </a:r>
            <a:r>
              <a:rPr lang="en-US" sz="2000">
                <a:solidFill>
                  <a:schemeClr val="lt1"/>
                </a:solidFill>
              </a:rPr>
              <a:t>Current CGPA</a:t>
            </a:r>
            <a:endParaRPr sz="2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</a:rPr>
              <a:t>• </a:t>
            </a:r>
            <a:r>
              <a:rPr lang="en-US" sz="2000">
                <a:solidFill>
                  <a:schemeClr val="lt1"/>
                </a:solidFill>
              </a:rPr>
              <a:t>Waiver/Scholarship</a:t>
            </a:r>
            <a:endParaRPr sz="2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</a:rPr>
              <a:t>• University</a:t>
            </a:r>
            <a:endParaRPr sz="2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</a:rPr>
              <a:t>• Department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85" name="Google Shape;85;p9"/>
          <p:cNvSpPr txBox="1"/>
          <p:nvPr/>
        </p:nvSpPr>
        <p:spPr>
          <a:xfrm>
            <a:off x="533625" y="2732800"/>
            <a:ext cx="3276000" cy="20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A86E8"/>
                </a:solidFill>
              </a:rPr>
              <a:t>Psychological Features</a:t>
            </a:r>
            <a:endParaRPr sz="2000">
              <a:solidFill>
                <a:srgbClr val="4A86E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4181F"/>
                </a:solidFill>
              </a:rPr>
              <a:t>• Anxiety Value</a:t>
            </a:r>
            <a:endParaRPr sz="2000">
              <a:solidFill>
                <a:srgbClr val="1418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4181F"/>
                </a:solidFill>
              </a:rPr>
              <a:t>• Depression Value</a:t>
            </a:r>
            <a:endParaRPr sz="2000">
              <a:solidFill>
                <a:srgbClr val="1418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4181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9"/>
          <p:cNvSpPr txBox="1"/>
          <p:nvPr/>
        </p:nvSpPr>
        <p:spPr>
          <a:xfrm>
            <a:off x="4906625" y="2860800"/>
            <a:ext cx="31125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A86E8"/>
                </a:solidFill>
              </a:rPr>
              <a:t>Target Feature</a:t>
            </a:r>
            <a:endParaRPr b="1" sz="2000">
              <a:solidFill>
                <a:srgbClr val="4A86E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>
                <a:solidFill>
                  <a:srgbClr val="14181F"/>
                </a:solidFill>
              </a:rPr>
              <a:t>• </a:t>
            </a:r>
            <a:r>
              <a:rPr lang="en-US" sz="2000">
                <a:solidFill>
                  <a:srgbClr val="2D3748"/>
                </a:solidFill>
              </a:rPr>
              <a:t>Stress Label</a:t>
            </a:r>
            <a:r>
              <a:rPr lang="en-US" sz="2000">
                <a:solidFill>
                  <a:srgbClr val="14181F"/>
                </a:solidFill>
              </a:rPr>
              <a:t>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0"/>
          <p:cNvSpPr/>
          <p:nvPr/>
        </p:nvSpPr>
        <p:spPr>
          <a:xfrm>
            <a:off x="386200" y="81445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46A8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6B46A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3200" u="none" cap="none" strike="noStrike">
                <a:solidFill>
                  <a:srgbClr val="6B46A8"/>
                </a:solidFill>
                <a:latin typeface="Calibri"/>
                <a:ea typeface="Calibri"/>
                <a:cs typeface="Calibri"/>
                <a:sym typeface="Calibri"/>
              </a:rPr>
              <a:t>Feature Selection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0"/>
          <p:cNvSpPr/>
          <p:nvPr/>
        </p:nvSpPr>
        <p:spPr>
          <a:xfrm>
            <a:off x="386200" y="791800"/>
            <a:ext cx="3937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Feature Selection Process:</a:t>
            </a:r>
            <a:r>
              <a:rPr b="1" i="0" lang="en-US" sz="18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300">
              <a:solidFill>
                <a:srgbClr val="2D37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800"/>
              <a:buFont typeface="Calibri"/>
              <a:buNone/>
            </a:pPr>
            <a:r>
              <a:t/>
            </a:r>
            <a:endParaRPr b="1" sz="1300">
              <a:solidFill>
                <a:srgbClr val="2D37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0"/>
          <p:cNvSpPr/>
          <p:nvPr/>
        </p:nvSpPr>
        <p:spPr>
          <a:xfrm>
            <a:off x="4323700" y="837550"/>
            <a:ext cx="370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Pearson Correlation with Stress Label</a:t>
            </a:r>
            <a:endParaRPr b="0" i="0" sz="1600" u="none" cap="none" strike="noStrike">
              <a:solidFill>
                <a:srgbClr val="6AA8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0"/>
          <p:cNvSpPr txBox="1"/>
          <p:nvPr/>
        </p:nvSpPr>
        <p:spPr>
          <a:xfrm>
            <a:off x="514750" y="1340500"/>
            <a:ext cx="3000000" cy="30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1.Pearson Correlation Analysis:</a:t>
            </a:r>
            <a:endParaRPr b="1" sz="15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A4C2F4"/>
                </a:solidFill>
                <a:latin typeface="Calibri"/>
                <a:ea typeface="Calibri"/>
                <a:cs typeface="Calibri"/>
                <a:sym typeface="Calibri"/>
              </a:rPr>
              <a:t>     Pearson Correlation :</a:t>
            </a:r>
            <a:endParaRPr b="1" sz="1500">
              <a:solidFill>
                <a:srgbClr val="A4C2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A4C2F4"/>
                </a:solidFill>
                <a:latin typeface="Calibri"/>
                <a:ea typeface="Calibri"/>
                <a:cs typeface="Calibri"/>
                <a:sym typeface="Calibri"/>
              </a:rPr>
              <a:t>Quantifies linear relationship      strength between features and stress (-1 to +1)  </a:t>
            </a:r>
            <a:endParaRPr b="1" sz="1500">
              <a:solidFill>
                <a:srgbClr val="A4C2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Applied to nominal &amp; continuous features:</a:t>
            </a:r>
            <a:endParaRPr sz="130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>
                <a:solidFill>
                  <a:srgbClr val="FFE599"/>
                </a:solidFill>
                <a:latin typeface="Calibri"/>
                <a:ea typeface="Calibri"/>
                <a:cs typeface="Calibri"/>
                <a:sym typeface="Calibri"/>
              </a:rPr>
              <a:t>Age , CGPA , Anxiety Value ,  Depression Value</a:t>
            </a:r>
            <a:endParaRPr>
              <a:solidFill>
                <a:srgbClr val="FFE599"/>
              </a:solidFill>
            </a:endParaRPr>
          </a:p>
        </p:txBody>
      </p:sp>
      <p:pic>
        <p:nvPicPr>
          <p:cNvPr id="95" name="Google Shape;95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6807" y="1344025"/>
            <a:ext cx="4796375" cy="2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  <p:sp>
        <p:nvSpPr>
          <p:cNvPr id="97" name="Google Shape;97;p10"/>
          <p:cNvSpPr txBox="1"/>
          <p:nvPr/>
        </p:nvSpPr>
        <p:spPr>
          <a:xfrm>
            <a:off x="3735325" y="4135550"/>
            <a:ext cx="4796400" cy="8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             ✅ Keep </a:t>
            </a:r>
            <a:r>
              <a:rPr lang="en-US">
                <a:solidFill>
                  <a:schemeClr val="dk1"/>
                </a:solidFill>
              </a:rPr>
              <a:t>Anxiety Score and Depression Score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                            </a:t>
            </a:r>
            <a:r>
              <a:rPr lang="en-US">
                <a:solidFill>
                  <a:srgbClr val="4A86E8"/>
                </a:solidFill>
              </a:rPr>
              <a:t> </a:t>
            </a:r>
            <a:r>
              <a:rPr lang="en-US" sz="1800">
                <a:solidFill>
                  <a:srgbClr val="4A86E8"/>
                </a:solidFill>
              </a:rPr>
              <a:t>Clear linear trend </a:t>
            </a:r>
            <a:endParaRPr sz="1800">
              <a:solidFill>
                <a:srgbClr val="4A86E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                        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8" name="Google Shape;98;p10"/>
          <p:cNvSpPr txBox="1"/>
          <p:nvPr/>
        </p:nvSpPr>
        <p:spPr>
          <a:xfrm>
            <a:off x="5125525" y="4565425"/>
            <a:ext cx="2019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1"/>
          <p:cNvSpPr txBox="1"/>
          <p:nvPr>
            <p:ph type="title"/>
          </p:nvPr>
        </p:nvSpPr>
        <p:spPr>
          <a:xfrm>
            <a:off x="720000" y="1474560"/>
            <a:ext cx="3519300" cy="165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1"/>
          <p:cNvSpPr txBox="1"/>
          <p:nvPr>
            <p:ph idx="1" type="body"/>
          </p:nvPr>
        </p:nvSpPr>
        <p:spPr>
          <a:xfrm>
            <a:off x="5066640" y="567360"/>
            <a:ext cx="3519300" cy="4615500"/>
          </a:xfrm>
          <a:prstGeom prst="rect">
            <a:avLst/>
          </a:prstGeom>
        </p:spPr>
        <p:txBody>
          <a:bodyPr anchorCtr="0" anchor="t" bIns="45000" lIns="90000" spcFirstLastPara="1" rIns="90000" wrap="square" tIns="450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pic>
        <p:nvPicPr>
          <p:cNvPr id="106" name="Google Shape;106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975" y="685925"/>
            <a:ext cx="4346501" cy="253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42137" y="792525"/>
            <a:ext cx="3368325" cy="193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1"/>
          <p:cNvSpPr txBox="1"/>
          <p:nvPr/>
        </p:nvSpPr>
        <p:spPr>
          <a:xfrm>
            <a:off x="360675" y="3132038"/>
            <a:ext cx="4475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9900"/>
                </a:solidFill>
              </a:rPr>
              <a:t>•</a:t>
            </a:r>
            <a:r>
              <a:rPr lang="en-US">
                <a:solidFill>
                  <a:srgbClr val="FF9900"/>
                </a:solidFill>
              </a:rPr>
              <a:t>"Below 18" has ~50% Low Stress (blue is huge)</a:t>
            </a:r>
            <a:endParaRPr>
              <a:solidFill>
                <a:srgbClr val="FF99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9900"/>
                </a:solidFill>
              </a:rPr>
              <a:t>•</a:t>
            </a:r>
            <a:r>
              <a:rPr lang="en-US">
                <a:solidFill>
                  <a:srgbClr val="FF9900"/>
                </a:solidFill>
              </a:rPr>
              <a:t>"18–22" Low Stress almost disappears</a:t>
            </a:r>
            <a:endParaRPr>
              <a:solidFill>
                <a:srgbClr val="FF99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9900"/>
                </a:solidFill>
              </a:rPr>
              <a:t>•</a:t>
            </a:r>
            <a:r>
              <a:rPr lang="en-US">
                <a:solidFill>
                  <a:srgbClr val="FF9900"/>
                </a:solidFill>
              </a:rPr>
              <a:t>"Above 30" Low Stress shoots back up again</a:t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109" name="Google Shape;109;p11"/>
          <p:cNvSpPr txBox="1"/>
          <p:nvPr/>
        </p:nvSpPr>
        <p:spPr>
          <a:xfrm>
            <a:off x="604500" y="4270250"/>
            <a:ext cx="3750300" cy="4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4A86E8"/>
                </a:solidFill>
              </a:rPr>
              <a:t>✅ </a:t>
            </a:r>
            <a:r>
              <a:rPr b="1" lang="en-US" sz="1900">
                <a:solidFill>
                  <a:srgbClr val="F5F5F5"/>
                </a:solidFill>
              </a:rPr>
              <a:t>Keep Age</a:t>
            </a:r>
            <a:endParaRPr b="1" sz="1900">
              <a:solidFill>
                <a:srgbClr val="F5F5F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4A86E8"/>
                </a:solidFill>
              </a:rPr>
              <a:t>   U-shaped / non-linear pattern </a:t>
            </a:r>
            <a:endParaRPr b="1" sz="1900">
              <a:solidFill>
                <a:srgbClr val="4A86E8"/>
              </a:solidFill>
            </a:endParaRPr>
          </a:p>
        </p:txBody>
      </p:sp>
      <p:sp>
        <p:nvSpPr>
          <p:cNvPr id="110" name="Google Shape;110;p11"/>
          <p:cNvSpPr txBox="1"/>
          <p:nvPr/>
        </p:nvSpPr>
        <p:spPr>
          <a:xfrm>
            <a:off x="5240188" y="2608250"/>
            <a:ext cx="3172200" cy="15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99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9900"/>
                </a:solidFill>
              </a:rPr>
              <a:t>•</a:t>
            </a:r>
            <a:r>
              <a:rPr lang="en-US">
                <a:solidFill>
                  <a:srgbClr val="FF9900"/>
                </a:solidFill>
              </a:rPr>
              <a:t>Across ALL CGPA ranges, the distribution looks nearly identical — dominated by Moderate Stress (yellow) with similar High/Low</a:t>
            </a:r>
            <a:r>
              <a:rPr lang="en-US"/>
              <a:t> ratios </a:t>
            </a:r>
            <a:endParaRPr/>
          </a:p>
        </p:txBody>
      </p:sp>
      <p:sp>
        <p:nvSpPr>
          <p:cNvPr id="111" name="Google Shape;111;p11"/>
          <p:cNvSpPr txBox="1"/>
          <p:nvPr/>
        </p:nvSpPr>
        <p:spPr>
          <a:xfrm>
            <a:off x="5617825" y="4239300"/>
            <a:ext cx="2519700" cy="6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✅ </a:t>
            </a:r>
            <a:r>
              <a:rPr lang="en-US">
                <a:solidFill>
                  <a:schemeClr val="dk1"/>
                </a:solidFill>
              </a:rPr>
              <a:t>Keep CGPA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A86E8"/>
                </a:solidFill>
              </a:rPr>
              <a:t>    Domain Relevance</a:t>
            </a:r>
            <a:endParaRPr>
              <a:solidFill>
                <a:srgbClr val="4A86E8"/>
              </a:solidFill>
            </a:endParaRPr>
          </a:p>
        </p:txBody>
      </p:sp>
      <p:sp>
        <p:nvSpPr>
          <p:cNvPr id="112" name="Google Shape;112;p11"/>
          <p:cNvSpPr txBox="1"/>
          <p:nvPr/>
        </p:nvSpPr>
        <p:spPr>
          <a:xfrm>
            <a:off x="0" y="0"/>
            <a:ext cx="64473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9B72CB"/>
                </a:solidFill>
              </a:rPr>
              <a:t>   </a:t>
            </a:r>
            <a:r>
              <a:rPr b="1" lang="en-US" sz="2500">
                <a:solidFill>
                  <a:srgbClr val="6B46A8"/>
                </a:solidFill>
              </a:rPr>
              <a:t>Feature Analysis: Age &amp; CGPA</a:t>
            </a:r>
            <a:r>
              <a:rPr b="1" lang="en-US" sz="1300">
                <a:solidFill>
                  <a:srgbClr val="9B72CB"/>
                </a:solidFill>
              </a:rPr>
              <a:t> </a:t>
            </a:r>
            <a:endParaRPr b="1" sz="1300">
              <a:solidFill>
                <a:srgbClr val="9B72CB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"/>
          <p:cNvSpPr txBox="1"/>
          <p:nvPr/>
        </p:nvSpPr>
        <p:spPr>
          <a:xfrm>
            <a:off x="522375" y="393800"/>
            <a:ext cx="3729000" cy="11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2. Group Distribution Analysis</a:t>
            </a:r>
            <a:endParaRPr b="1" sz="1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en-US" sz="150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For categorical features: </a:t>
            </a:r>
            <a:endParaRPr sz="150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en-US" sz="1500">
                <a:solidFill>
                  <a:srgbClr val="FFE599"/>
                </a:solidFill>
                <a:latin typeface="Calibri"/>
                <a:ea typeface="Calibri"/>
                <a:cs typeface="Calibri"/>
                <a:sym typeface="Calibri"/>
              </a:rPr>
              <a:t>Gender, Waiver/Scholarship, Academic Year</a:t>
            </a:r>
            <a:endParaRPr sz="1500">
              <a:solidFill>
                <a:srgbClr val="FFE5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  <p:pic>
        <p:nvPicPr>
          <p:cNvPr id="119" name="Google Shape;119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1300" y="2558538"/>
            <a:ext cx="4229425" cy="1724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2"/>
          <p:cNvSpPr txBox="1"/>
          <p:nvPr/>
        </p:nvSpPr>
        <p:spPr>
          <a:xfrm>
            <a:off x="908325" y="2158350"/>
            <a:ext cx="465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A86E8"/>
                </a:solidFill>
              </a:rPr>
              <a:t>Stress Label Distribution by Gender</a:t>
            </a:r>
            <a:endParaRPr>
              <a:solidFill>
                <a:srgbClr val="4A86E8"/>
              </a:solidFill>
            </a:endParaRPr>
          </a:p>
        </p:txBody>
      </p:sp>
      <p:pic>
        <p:nvPicPr>
          <p:cNvPr id="121" name="Google Shape;121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82363" y="672050"/>
            <a:ext cx="3274426" cy="1886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2"/>
          <p:cNvSpPr txBox="1"/>
          <p:nvPr/>
        </p:nvSpPr>
        <p:spPr>
          <a:xfrm>
            <a:off x="5414925" y="2816350"/>
            <a:ext cx="3009300" cy="22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EFEFEF"/>
                </a:solidFill>
              </a:rPr>
              <a:t>KEEP </a:t>
            </a:r>
            <a:r>
              <a:rPr b="1" lang="en-US" sz="1100">
                <a:solidFill>
                  <a:srgbClr val="EFEFEF"/>
                </a:solidFill>
              </a:rPr>
              <a:t>✅</a:t>
            </a:r>
            <a:r>
              <a:rPr lang="en-US" sz="1100">
                <a:solidFill>
                  <a:srgbClr val="EFEFEF"/>
                </a:solidFill>
              </a:rPr>
              <a:t> </a:t>
            </a:r>
            <a:endParaRPr sz="1100">
              <a:solidFill>
                <a:srgbClr val="EFEFE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9900"/>
                </a:solidFill>
              </a:rPr>
              <a:t>•</a:t>
            </a:r>
            <a:r>
              <a:rPr lang="en-US" sz="1100">
                <a:solidFill>
                  <a:srgbClr val="FF9900"/>
                </a:solidFill>
              </a:rPr>
              <a:t>Females: </a:t>
            </a:r>
            <a:r>
              <a:rPr b="1" lang="en-US" sz="1100">
                <a:solidFill>
                  <a:srgbClr val="FF9900"/>
                </a:solidFill>
              </a:rPr>
              <a:t>36.1% High Stress</a:t>
            </a:r>
            <a:r>
              <a:rPr lang="en-US" sz="1100">
                <a:solidFill>
                  <a:srgbClr val="FF9900"/>
                </a:solidFill>
              </a:rPr>
              <a:t> — noticeably higher</a:t>
            </a:r>
            <a:endParaRPr sz="1100">
              <a:solidFill>
                <a:srgbClr val="FF99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9900"/>
                </a:solidFill>
              </a:rPr>
              <a:t>•</a:t>
            </a:r>
            <a:r>
              <a:rPr lang="en-US" sz="1100">
                <a:solidFill>
                  <a:srgbClr val="FF9900"/>
                </a:solidFill>
              </a:rPr>
              <a:t>Males: </a:t>
            </a:r>
            <a:r>
              <a:rPr b="1" lang="en-US" sz="1100">
                <a:solidFill>
                  <a:srgbClr val="FF9900"/>
                </a:solidFill>
              </a:rPr>
              <a:t>24.2% High Stress</a:t>
            </a:r>
            <a:r>
              <a:rPr lang="en-US" sz="1100">
                <a:solidFill>
                  <a:srgbClr val="FF9900"/>
                </a:solidFill>
              </a:rPr>
              <a:t> — lower</a:t>
            </a:r>
            <a:endParaRPr sz="1100">
              <a:solidFill>
                <a:srgbClr val="FF99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>
                <a:solidFill>
                  <a:srgbClr val="FF9900"/>
                </a:solidFill>
              </a:rPr>
              <a:t>•</a:t>
            </a:r>
            <a:r>
              <a:rPr lang="en-US" sz="1100">
                <a:solidFill>
                  <a:srgbClr val="FF9900"/>
                </a:solidFill>
              </a:rPr>
              <a:t>The gap is ~12 percentage points, which is meaningful</a:t>
            </a:r>
            <a:endParaRPr sz="1100">
              <a:solidFill>
                <a:srgbClr val="FF9900"/>
              </a:solidFill>
            </a:endParaRPr>
          </a:p>
        </p:txBody>
      </p:sp>
      <p:sp>
        <p:nvSpPr>
          <p:cNvPr id="123" name="Google Shape;123;p12"/>
          <p:cNvSpPr txBox="1"/>
          <p:nvPr/>
        </p:nvSpPr>
        <p:spPr>
          <a:xfrm>
            <a:off x="522375" y="0"/>
            <a:ext cx="6139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6B46A8"/>
                </a:solidFill>
              </a:rPr>
              <a:t>Feature Analysis: Gender &amp; Distribution </a:t>
            </a:r>
            <a:endParaRPr b="1" sz="2400">
              <a:solidFill>
                <a:srgbClr val="6B46A8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idx="12" type="sldNum"/>
          </p:nvPr>
        </p:nvSpPr>
        <p:spPr>
          <a:xfrm>
            <a:off x="8595309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29" name="Google Shape;129;p13"/>
          <p:cNvSpPr/>
          <p:nvPr/>
        </p:nvSpPr>
        <p:spPr>
          <a:xfrm>
            <a:off x="984900" y="3565750"/>
            <a:ext cx="7174200" cy="11841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2CC"/>
                </a:solidFill>
                <a:latin typeface="Calibri"/>
                <a:ea typeface="Calibri"/>
                <a:cs typeface="Calibri"/>
                <a:sym typeface="Calibri"/>
              </a:rPr>
              <a:t>Final Selected Features (5)</a:t>
            </a:r>
            <a:endParaRPr sz="1600">
              <a:solidFill>
                <a:srgbClr val="FFF2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Age • Gender • CGPA • Anxiety Value • Depression Value</a:t>
            </a:r>
            <a:endParaRPr>
              <a:solidFill>
                <a:srgbClr val="00FF00"/>
              </a:solidFill>
            </a:endParaRPr>
          </a:p>
        </p:txBody>
      </p:sp>
      <p:sp>
        <p:nvSpPr>
          <p:cNvPr id="130" name="Google Shape;130;p13"/>
          <p:cNvSpPr/>
          <p:nvPr/>
        </p:nvSpPr>
        <p:spPr>
          <a:xfrm>
            <a:off x="1023575" y="4663450"/>
            <a:ext cx="676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University</a:t>
            </a:r>
            <a:r>
              <a:rPr i="1" lang="en-US" sz="11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0" i="1" lang="en-US" sz="11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Department excluded to avoid institutional bias and maintain generalizability</a:t>
            </a:r>
            <a:endParaRPr b="0" i="0" sz="1100" u="none" cap="none" strike="noStrik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900" y="991225"/>
            <a:ext cx="4111475" cy="150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1749" y="1183350"/>
            <a:ext cx="3729050" cy="111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3"/>
          <p:cNvSpPr txBox="1"/>
          <p:nvPr/>
        </p:nvSpPr>
        <p:spPr>
          <a:xfrm>
            <a:off x="428625" y="591013"/>
            <a:ext cx="465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A86E8"/>
                </a:solidFill>
              </a:rPr>
              <a:t>Stress Label Distribution by Academic Year</a:t>
            </a:r>
            <a:endParaRPr>
              <a:solidFill>
                <a:srgbClr val="4A86E8"/>
              </a:solidFill>
            </a:endParaRPr>
          </a:p>
        </p:txBody>
      </p:sp>
      <p:sp>
        <p:nvSpPr>
          <p:cNvPr id="134" name="Google Shape;134;p13"/>
          <p:cNvSpPr txBox="1"/>
          <p:nvPr/>
        </p:nvSpPr>
        <p:spPr>
          <a:xfrm>
            <a:off x="4993475" y="679950"/>
            <a:ext cx="465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A86E8"/>
                </a:solidFill>
              </a:rPr>
              <a:t>Stress Label Distribution by Waiver</a:t>
            </a:r>
            <a:endParaRPr>
              <a:solidFill>
                <a:srgbClr val="4A86E8"/>
              </a:solidFill>
            </a:endParaRPr>
          </a:p>
        </p:txBody>
      </p:sp>
      <p:sp>
        <p:nvSpPr>
          <p:cNvPr id="135" name="Google Shape;135;p13"/>
          <p:cNvSpPr txBox="1"/>
          <p:nvPr/>
        </p:nvSpPr>
        <p:spPr>
          <a:xfrm>
            <a:off x="222350" y="2598725"/>
            <a:ext cx="3824400" cy="9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❌</a:t>
            </a:r>
            <a:r>
              <a:rPr lang="en-US" sz="1700">
                <a:solidFill>
                  <a:schemeClr val="dk1"/>
                </a:solidFill>
              </a:rPr>
              <a:t> Excluded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A86E8"/>
                </a:solidFill>
              </a:rPr>
              <a:t>Non-linear spike in 2nd year , but weak </a:t>
            </a:r>
            <a:r>
              <a:rPr lang="en-US">
                <a:solidFill>
                  <a:srgbClr val="FF9900"/>
                </a:solidFill>
              </a:rPr>
              <a:t> </a:t>
            </a:r>
            <a:r>
              <a:rPr lang="en-US">
                <a:solidFill>
                  <a:srgbClr val="4A86E8"/>
                </a:solidFill>
              </a:rPr>
              <a:t>Discriminative Power</a:t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136" name="Google Shape;136;p13"/>
          <p:cNvSpPr txBox="1"/>
          <p:nvPr/>
        </p:nvSpPr>
        <p:spPr>
          <a:xfrm>
            <a:off x="5329225" y="2542475"/>
            <a:ext cx="3161700" cy="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❌</a:t>
            </a:r>
            <a:r>
              <a:rPr lang="en-US" sz="1700">
                <a:solidFill>
                  <a:schemeClr val="dk1"/>
                </a:solidFill>
              </a:rPr>
              <a:t> Excluded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A86E8"/>
                </a:solidFill>
              </a:rPr>
              <a:t>Almost no Discriminative Power </a:t>
            </a:r>
            <a:endParaRPr>
              <a:solidFill>
                <a:srgbClr val="4A86E8"/>
              </a:solidFill>
            </a:endParaRPr>
          </a:p>
        </p:txBody>
      </p:sp>
      <p:sp>
        <p:nvSpPr>
          <p:cNvPr id="137" name="Google Shape;137;p13"/>
          <p:cNvSpPr txBox="1"/>
          <p:nvPr/>
        </p:nvSpPr>
        <p:spPr>
          <a:xfrm>
            <a:off x="0" y="0"/>
            <a:ext cx="55008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6B46A8"/>
                </a:solidFill>
              </a:rPr>
              <a:t>   </a:t>
            </a:r>
            <a:r>
              <a:rPr b="1" lang="en-US" sz="2300">
                <a:solidFill>
                  <a:srgbClr val="6B46A8"/>
                </a:solidFill>
              </a:rPr>
              <a:t>Feature Selection: Final Summary </a:t>
            </a:r>
            <a:endParaRPr b="1" sz="2300">
              <a:solidFill>
                <a:srgbClr val="6B46A8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4"/>
          <p:cNvSpPr/>
          <p:nvPr/>
        </p:nvSpPr>
        <p:spPr>
          <a:xfrm>
            <a:off x="400925" y="-5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46A8"/>
              </a:buClr>
              <a:buSzPts val="3200"/>
              <a:buFont typeface="Calibri"/>
              <a:buNone/>
            </a:pPr>
            <a:r>
              <a:rPr b="1" i="0" lang="en-US" sz="3100" u="none" cap="none" strike="noStrike">
                <a:solidFill>
                  <a:srgbClr val="6B46A8"/>
                </a:solidFill>
                <a:latin typeface="Calibri"/>
                <a:ea typeface="Calibri"/>
                <a:cs typeface="Calibri"/>
                <a:sym typeface="Calibri"/>
              </a:rPr>
              <a:t>Model Implementation</a:t>
            </a:r>
            <a:endParaRPr b="0" i="0" sz="3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4"/>
          <p:cNvSpPr/>
          <p:nvPr/>
        </p:nvSpPr>
        <p:spPr>
          <a:xfrm>
            <a:off x="492305" y="685863"/>
            <a:ext cx="786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Three Algorithms Implemented from Scratch in Java</a:t>
            </a:r>
            <a:endParaRPr b="0" i="0" sz="1600" u="none" cap="none" strike="noStrike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4"/>
          <p:cNvSpPr/>
          <p:nvPr/>
        </p:nvSpPr>
        <p:spPr>
          <a:xfrm>
            <a:off x="583805" y="1188715"/>
            <a:ext cx="2469000" cy="21030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9B72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4"/>
          <p:cNvSpPr/>
          <p:nvPr/>
        </p:nvSpPr>
        <p:spPr>
          <a:xfrm>
            <a:off x="675245" y="1325875"/>
            <a:ext cx="228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46A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6B46A8"/>
                </a:solidFill>
                <a:latin typeface="Calibri"/>
                <a:ea typeface="Calibri"/>
                <a:cs typeface="Calibri"/>
                <a:sym typeface="Calibri"/>
              </a:rPr>
              <a:t>Decision Tree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4"/>
          <p:cNvSpPr/>
          <p:nvPr/>
        </p:nvSpPr>
        <p:spPr>
          <a:xfrm>
            <a:off x="675245" y="1645915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Initial: maxDepth = 10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Optimized: maxDepth = 5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4"/>
          <p:cNvSpPr/>
          <p:nvPr/>
        </p:nvSpPr>
        <p:spPr>
          <a:xfrm>
            <a:off x="675245" y="2194555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•handles non-linear patterns (eg age)without normalization 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4"/>
          <p:cNvSpPr/>
          <p:nvPr/>
        </p:nvSpPr>
        <p:spPr>
          <a:xfrm>
            <a:off x="3281285" y="1188715"/>
            <a:ext cx="2469000" cy="21030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9B72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4"/>
          <p:cNvSpPr/>
          <p:nvPr/>
        </p:nvSpPr>
        <p:spPr>
          <a:xfrm>
            <a:off x="3372725" y="1325875"/>
            <a:ext cx="228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46A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6B46A8"/>
                </a:solidFill>
                <a:latin typeface="Calibri"/>
                <a:ea typeface="Calibri"/>
                <a:cs typeface="Calibri"/>
                <a:sym typeface="Calibri"/>
              </a:rPr>
              <a:t>Logistic Regression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4"/>
          <p:cNvSpPr/>
          <p:nvPr/>
        </p:nvSpPr>
        <p:spPr>
          <a:xfrm>
            <a:off x="3372725" y="1645915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Softmax + SGD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Epochs: 500, LR: 0.01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4"/>
          <p:cNvSpPr/>
          <p:nvPr/>
        </p:nvSpPr>
        <p:spPr>
          <a:xfrm>
            <a:off x="3372725" y="2194555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•widely used in health classification </a:t>
            </a:r>
            <a:endParaRPr sz="1100">
              <a:solidFill>
                <a:srgbClr val="2D37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•revealing the critical impact of normalization on model performance </a:t>
            </a:r>
            <a:endParaRPr sz="1100">
              <a:solidFill>
                <a:srgbClr val="2D37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4"/>
          <p:cNvSpPr/>
          <p:nvPr/>
        </p:nvSpPr>
        <p:spPr>
          <a:xfrm>
            <a:off x="5978765" y="1188715"/>
            <a:ext cx="2469000" cy="21030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9B72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4"/>
          <p:cNvSpPr/>
          <p:nvPr/>
        </p:nvSpPr>
        <p:spPr>
          <a:xfrm>
            <a:off x="6070205" y="1325875"/>
            <a:ext cx="228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46A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6B46A8"/>
                </a:solidFill>
                <a:latin typeface="Calibri"/>
                <a:ea typeface="Calibri"/>
                <a:cs typeface="Calibri"/>
                <a:sym typeface="Calibri"/>
              </a:rPr>
              <a:t>K-Nearest Neighbors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4"/>
          <p:cNvSpPr/>
          <p:nvPr/>
        </p:nvSpPr>
        <p:spPr>
          <a:xfrm>
            <a:off x="6070205" y="1645915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Initial: k = 5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Optimized: k = 21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4"/>
          <p:cNvSpPr/>
          <p:nvPr/>
        </p:nvSpPr>
        <p:spPr>
          <a:xfrm>
            <a:off x="6070205" y="2194555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5454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1100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mental health screening is naturally a peer-comparison problem 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5"/>
          <p:cNvSpPr/>
          <p:nvPr/>
        </p:nvSpPr>
        <p:spPr>
          <a:xfrm>
            <a:off x="457200" y="-5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46A8"/>
              </a:buClr>
              <a:buSzPts val="3200"/>
              <a:buFont typeface="Calibri"/>
              <a:buNone/>
            </a:pPr>
            <a:r>
              <a:rPr b="1" i="0" lang="en-US" sz="3000" u="none" cap="none" strike="noStrike">
                <a:solidFill>
                  <a:srgbClr val="6B46A8"/>
                </a:solidFill>
                <a:latin typeface="Calibri"/>
                <a:ea typeface="Calibri"/>
                <a:cs typeface="Calibri"/>
                <a:sym typeface="Calibri"/>
              </a:rPr>
              <a:t>Model Evaluation Methodology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5"/>
          <p:cNvSpPr/>
          <p:nvPr/>
        </p:nvSpPr>
        <p:spPr>
          <a:xfrm>
            <a:off x="472600" y="713875"/>
            <a:ext cx="2536500" cy="1361400"/>
          </a:xfrm>
          <a:prstGeom prst="rect">
            <a:avLst/>
          </a:prstGeom>
          <a:solidFill>
            <a:srgbClr val="E5D9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5"/>
          <p:cNvSpPr/>
          <p:nvPr/>
        </p:nvSpPr>
        <p:spPr>
          <a:xfrm>
            <a:off x="650347" y="851035"/>
            <a:ext cx="3291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46A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6B46A8"/>
                </a:solidFill>
                <a:latin typeface="Calibri"/>
                <a:ea typeface="Calibri"/>
                <a:cs typeface="Calibri"/>
                <a:sym typeface="Calibri"/>
              </a:rPr>
              <a:t>10-Fold Cross-Validation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5"/>
          <p:cNvSpPr/>
          <p:nvPr/>
        </p:nvSpPr>
        <p:spPr>
          <a:xfrm>
            <a:off x="731550" y="1125225"/>
            <a:ext cx="2284500" cy="9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None/>
            </a:pPr>
            <a:r>
              <a:rPr b="0" i="0" lang="en-US" sz="13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Data split into 10 folds; </a:t>
            </a:r>
            <a:endParaRPr b="0" i="0" sz="1300" u="none" cap="none" strike="noStrike">
              <a:solidFill>
                <a:srgbClr val="2D37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None/>
            </a:pPr>
            <a:r>
              <a:rPr b="0" i="0" lang="en-US" sz="13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each fold serves as test</a:t>
            </a:r>
            <a:endParaRPr b="0" i="0" sz="1300" u="none" cap="none" strike="noStrike">
              <a:solidFill>
                <a:srgbClr val="2D37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None/>
            </a:pPr>
            <a:r>
              <a:rPr b="0" i="0" lang="en-US" sz="13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 set once while remaining</a:t>
            </a:r>
            <a:endParaRPr b="0" i="0" sz="1300" u="none" cap="none" strike="noStrike">
              <a:solidFill>
                <a:srgbClr val="2D37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None/>
            </a:pPr>
            <a:r>
              <a:rPr b="0" i="0" lang="en-US" sz="13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 9 folds train the model.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5"/>
          <p:cNvSpPr/>
          <p:nvPr/>
        </p:nvSpPr>
        <p:spPr>
          <a:xfrm>
            <a:off x="822960" y="1691635"/>
            <a:ext cx="3291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5"/>
          <p:cNvSpPr/>
          <p:nvPr/>
        </p:nvSpPr>
        <p:spPr>
          <a:xfrm>
            <a:off x="3379600" y="546150"/>
            <a:ext cx="4372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50" lIns="92125" spcFirstLastPara="1" rIns="92125" wrap="square" tIns="46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411"/>
              <a:buFont typeface="Calibri"/>
              <a:buNone/>
            </a:pPr>
            <a:r>
              <a:rPr b="1" i="0" lang="en-US" sz="1411" u="none" cap="none" strike="noStrike">
                <a:solidFill>
                  <a:srgbClr val="6B46A8"/>
                </a:solidFill>
                <a:latin typeface="Calibri"/>
                <a:ea typeface="Calibri"/>
                <a:cs typeface="Calibri"/>
                <a:sym typeface="Calibri"/>
              </a:rPr>
              <a:t>Act 1: Imbalanced Data — High Accuracy, Poor Minority Recall</a:t>
            </a:r>
            <a:r>
              <a:rPr b="1" lang="en-US" sz="1411">
                <a:solidFill>
                  <a:srgbClr val="6B46A8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b="0" i="0" sz="1411" u="none" cap="none" strike="noStrike">
              <a:solidFill>
                <a:srgbClr val="6B46A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  <p:pic>
        <p:nvPicPr>
          <p:cNvPr id="168" name="Google Shape;1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3350" y="1214697"/>
            <a:ext cx="5800725" cy="112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9600" y="2916550"/>
            <a:ext cx="5508201" cy="213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5"/>
          <p:cNvSpPr/>
          <p:nvPr/>
        </p:nvSpPr>
        <p:spPr>
          <a:xfrm>
            <a:off x="731550" y="3014800"/>
            <a:ext cx="36576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46A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6B46A8"/>
                </a:solidFill>
                <a:latin typeface="Calibri"/>
                <a:ea typeface="Calibri"/>
                <a:cs typeface="Calibri"/>
                <a:sym typeface="Calibri"/>
              </a:rPr>
              <a:t>Iterative Pipeline (</a:t>
            </a:r>
            <a:r>
              <a:rPr b="1" lang="en-US" sz="1600">
                <a:solidFill>
                  <a:srgbClr val="6B46A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i="0" lang="en-US" sz="1600" u="none" cap="none" strike="noStrike">
                <a:solidFill>
                  <a:srgbClr val="6B46A8"/>
                </a:solidFill>
                <a:latin typeface="Calibri"/>
                <a:ea typeface="Calibri"/>
                <a:cs typeface="Calibri"/>
                <a:sym typeface="Calibri"/>
              </a:rPr>
              <a:t> Acts)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5"/>
          <p:cNvSpPr/>
          <p:nvPr/>
        </p:nvSpPr>
        <p:spPr>
          <a:xfrm>
            <a:off x="548653" y="3426451"/>
            <a:ext cx="33174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50" lIns="92125" spcFirstLastPara="1" rIns="92125" wrap="square" tIns="4605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310"/>
              <a:buFont typeface="Calibri"/>
              <a:buNone/>
            </a:pPr>
            <a:r>
              <a:rPr b="1" lang="en-US" sz="131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i="0" lang="en-US" sz="1310" u="none" cap="none" strike="noStrike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Act 1: </a:t>
            </a:r>
            <a:r>
              <a:rPr b="0" i="0" lang="en-US" sz="1310" u="none" cap="none" strike="noStrike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Imbalanced (baseline) </a:t>
            </a:r>
            <a:endParaRPr b="0" i="0" sz="1310" u="none" cap="none" strike="noStrike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310"/>
              <a:buFont typeface="Calibri"/>
              <a:buNone/>
            </a:pPr>
            <a:r>
              <a:rPr b="1" lang="en-US" sz="131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i="0" lang="en-US" sz="1310" u="none" cap="none" strike="noStrike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Act </a:t>
            </a:r>
            <a:r>
              <a:rPr b="1" lang="en-US" sz="131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0" lang="en-US" sz="1310" u="none" cap="none" strike="noStrike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1310" u="none" cap="none" strike="noStrike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Balanced + Normalized</a:t>
            </a:r>
            <a:endParaRPr b="0" i="0" sz="1310" u="none" cap="none" strike="noStrike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310"/>
              <a:buFont typeface="Calibri"/>
              <a:buNone/>
            </a:pPr>
            <a:r>
              <a:rPr b="1" lang="en-US" sz="131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i="0" lang="en-US" sz="1310" u="none" cap="none" strike="noStrike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Act </a:t>
            </a:r>
            <a:r>
              <a:rPr b="1" lang="en-US" sz="131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i="0" lang="en-US" sz="1310" u="none" cap="none" strike="noStrike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1310" u="none" cap="none" strike="noStrike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Optimized (Tuned params)</a:t>
            </a:r>
            <a:endParaRPr b="0" i="0" sz="1310" u="none" cap="none" strike="noStrike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5"/>
          <p:cNvSpPr txBox="1"/>
          <p:nvPr/>
        </p:nvSpPr>
        <p:spPr>
          <a:xfrm>
            <a:off x="4487025" y="713863"/>
            <a:ext cx="3542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A86E8"/>
                </a:solidFill>
              </a:rPr>
              <a:t>Low Stress — Recall </a:t>
            </a:r>
            <a:endParaRPr>
              <a:solidFill>
                <a:srgbClr val="4A86E8"/>
              </a:solidFill>
            </a:endParaRPr>
          </a:p>
        </p:txBody>
      </p:sp>
      <p:sp>
        <p:nvSpPr>
          <p:cNvPr id="173" name="Google Shape;173;p15"/>
          <p:cNvSpPr txBox="1"/>
          <p:nvPr/>
        </p:nvSpPr>
        <p:spPr>
          <a:xfrm>
            <a:off x="4662563" y="2490500"/>
            <a:ext cx="2742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A86E8"/>
                </a:solidFill>
              </a:rPr>
              <a:t>High Stress — Recall </a:t>
            </a:r>
            <a:endParaRPr>
              <a:solidFill>
                <a:srgbClr val="4A86E8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6"/>
          <p:cNvSpPr/>
          <p:nvPr/>
        </p:nvSpPr>
        <p:spPr>
          <a:xfrm>
            <a:off x="274375" y="332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46A8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6B46A8"/>
                </a:solidFill>
                <a:latin typeface="Calibri"/>
                <a:ea typeface="Calibri"/>
                <a:cs typeface="Calibri"/>
                <a:sym typeface="Calibri"/>
              </a:rPr>
              <a:t>Dataset Challenge: Class Imbalance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6"/>
          <p:cNvSpPr/>
          <p:nvPr/>
        </p:nvSpPr>
        <p:spPr>
          <a:xfrm>
            <a:off x="274380" y="705075"/>
            <a:ext cx="7863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Observation: Severe Imbalance Detected</a:t>
            </a:r>
            <a:endParaRPr b="0" i="0" sz="1800" u="none" cap="none" strike="noStrike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6"/>
          <p:cNvSpPr/>
          <p:nvPr/>
        </p:nvSpPr>
        <p:spPr>
          <a:xfrm>
            <a:off x="364860" y="1246065"/>
            <a:ext cx="320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Stress Label Distribution:</a:t>
            </a:r>
            <a:endParaRPr b="0" i="0" sz="1400" u="none" cap="none" strike="noStrike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1" name="Google Shape;181;p16"/>
          <p:cNvGraphicFramePr/>
          <p:nvPr/>
        </p:nvGraphicFramePr>
        <p:xfrm>
          <a:off x="501510" y="16421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{53EECD1A-932F-4A83-AB1A-52AF0A2C94DD}</a:tableStyleId>
              </a:tblPr>
              <a:tblGrid>
                <a:gridCol w="1066800"/>
                <a:gridCol w="1066800"/>
                <a:gridCol w="123740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Class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B72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B72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B72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B72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B46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Count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B72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B72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B72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B72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B46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Percentage</a:t>
                      </a:r>
                      <a:endParaRPr sz="13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B72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B72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B72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B72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B46A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EFEFEF"/>
                          </a:solidFill>
                        </a:rPr>
                        <a:t>High Perceived Stress</a:t>
                      </a:r>
                      <a:endParaRPr sz="1300" u="none" cap="none" strike="noStrike">
                        <a:solidFill>
                          <a:srgbClr val="EFEFEF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B72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B72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B72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B72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EFEFEF"/>
                          </a:solidFill>
                        </a:rPr>
                        <a:t>565</a:t>
                      </a:r>
                      <a:endParaRPr sz="1300" u="none" cap="none" strike="noStrike">
                        <a:solidFill>
                          <a:srgbClr val="EFEFEF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B72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B72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B72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B72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EFEFEF"/>
                          </a:solidFill>
                        </a:rPr>
                        <a:t>27.9%</a:t>
                      </a:r>
                      <a:endParaRPr sz="1300" u="none" cap="none" strike="noStrike">
                        <a:solidFill>
                          <a:srgbClr val="EFEFEF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B72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B72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B72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B72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EFEFEF"/>
                          </a:solidFill>
                        </a:rPr>
                        <a:t>Low Stress</a:t>
                      </a:r>
                      <a:endParaRPr sz="1300" u="none" cap="none" strike="noStrike">
                        <a:solidFill>
                          <a:srgbClr val="EFEFEF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B72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B72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B72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B72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EFEFEF"/>
                          </a:solidFill>
                        </a:rPr>
                        <a:t>115</a:t>
                      </a:r>
                      <a:endParaRPr sz="1300" u="none" cap="none" strike="noStrike">
                        <a:solidFill>
                          <a:srgbClr val="EFEFEF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B72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B72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B72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B72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EFEFEF"/>
                          </a:solidFill>
                        </a:rPr>
                        <a:t>5.7%</a:t>
                      </a:r>
                      <a:endParaRPr sz="1300" u="none" cap="none" strike="noStrike">
                        <a:solidFill>
                          <a:srgbClr val="EFEFEF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B72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B72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B72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B72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EFEFEF"/>
                          </a:solidFill>
                        </a:rPr>
                        <a:t>Moderate Stress</a:t>
                      </a:r>
                      <a:endParaRPr sz="1300" u="none" cap="none" strike="noStrike">
                        <a:solidFill>
                          <a:srgbClr val="EFEFEF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B72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B72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B72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B72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EFEFEF"/>
                          </a:solidFill>
                        </a:rPr>
                        <a:t>1348</a:t>
                      </a:r>
                      <a:endParaRPr sz="1300" u="none" cap="none" strike="noStrike">
                        <a:solidFill>
                          <a:srgbClr val="EFEFEF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B72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B72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B72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B72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EFEFEF"/>
                          </a:solidFill>
                        </a:rPr>
                        <a:t>66.5%</a:t>
                      </a:r>
                      <a:endParaRPr sz="1300" u="none" cap="none" strike="noStrike">
                        <a:solidFill>
                          <a:srgbClr val="EFEFEF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9B72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B72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B72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B72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2" name="Google Shape;182;p16"/>
          <p:cNvSpPr/>
          <p:nvPr/>
        </p:nvSpPr>
        <p:spPr>
          <a:xfrm>
            <a:off x="4491650" y="1591275"/>
            <a:ext cx="3931800" cy="1422600"/>
          </a:xfrm>
          <a:prstGeom prst="rect">
            <a:avLst/>
          </a:prstGeom>
          <a:solidFill>
            <a:srgbClr val="E5D9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6"/>
          <p:cNvSpPr/>
          <p:nvPr/>
        </p:nvSpPr>
        <p:spPr>
          <a:xfrm>
            <a:off x="4754880" y="1645920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46A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6B46A8"/>
                </a:solidFill>
                <a:latin typeface="Calibri"/>
                <a:ea typeface="Calibri"/>
                <a:cs typeface="Calibri"/>
                <a:sym typeface="Calibri"/>
              </a:rPr>
              <a:t>Impact on Model Performance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6"/>
          <p:cNvSpPr/>
          <p:nvPr/>
        </p:nvSpPr>
        <p:spPr>
          <a:xfrm>
            <a:off x="4754880" y="2011680"/>
            <a:ext cx="35661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• Models biased toward Moderate class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• Poor recall for Low and High stress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D3748"/>
                </a:solidFill>
                <a:latin typeface="Calibri"/>
                <a:ea typeface="Calibri"/>
                <a:cs typeface="Calibri"/>
                <a:sym typeface="Calibri"/>
              </a:rPr>
              <a:t>• Misses critical at-risk students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9725" y="3677888"/>
            <a:ext cx="2095500" cy="11811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9B72CB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6" name="Google Shape;186;p16"/>
          <p:cNvSpPr txBox="1"/>
          <p:nvPr/>
        </p:nvSpPr>
        <p:spPr>
          <a:xfrm>
            <a:off x="5231900" y="3277700"/>
            <a:ext cx="376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2"/>
                </a:solidFill>
              </a:rPr>
              <a:t>Stress </a:t>
            </a:r>
            <a:r>
              <a:rPr lang="en-US">
                <a:solidFill>
                  <a:schemeClr val="accent2"/>
                </a:solidFill>
              </a:rPr>
              <a:t>Label Distribution in </a:t>
            </a:r>
            <a:r>
              <a:rPr lang="en-US">
                <a:solidFill>
                  <a:schemeClr val="accent2"/>
                </a:solidFill>
              </a:rPr>
              <a:t>intellij idea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87" name="Google Shape;187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7"/>
          <p:cNvSpPr/>
          <p:nvPr/>
        </p:nvSpPr>
        <p:spPr>
          <a:xfrm>
            <a:off x="529550" y="-4823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46A8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6B46A8"/>
                </a:solidFill>
                <a:latin typeface="Calibri"/>
                <a:ea typeface="Calibri"/>
                <a:cs typeface="Calibri"/>
                <a:sym typeface="Calibri"/>
              </a:rPr>
              <a:t>Preprocessing: Normalization &amp; Balancing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7"/>
          <p:cNvSpPr/>
          <p:nvPr/>
        </p:nvSpPr>
        <p:spPr>
          <a:xfrm>
            <a:off x="437975" y="434625"/>
            <a:ext cx="32382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9B72CB"/>
                </a:solidFill>
                <a:latin typeface="Calibri"/>
                <a:ea typeface="Calibri"/>
                <a:cs typeface="Calibri"/>
                <a:sym typeface="Calibri"/>
              </a:rPr>
              <a:t>Act 2</a:t>
            </a:r>
            <a:r>
              <a:rPr b="1" i="0" lang="en-US" sz="1600" u="none" cap="none" strike="noStrike">
                <a:solidFill>
                  <a:srgbClr val="9B72CB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1" lang="en-US" sz="1600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600">
                <a:solidFill>
                  <a:srgbClr val="9B72CB"/>
                </a:solidFill>
                <a:latin typeface="Calibri"/>
                <a:ea typeface="Calibri"/>
                <a:cs typeface="Calibri"/>
                <a:sym typeface="Calibri"/>
              </a:rPr>
              <a:t>Min-Max Normalization +</a:t>
            </a:r>
            <a:r>
              <a:rPr b="1" i="0" lang="en-US" sz="1600" u="none" cap="none" strike="noStrike">
                <a:solidFill>
                  <a:srgbClr val="9B72CB"/>
                </a:solidFill>
                <a:latin typeface="Calibri"/>
                <a:ea typeface="Calibri"/>
                <a:cs typeface="Calibri"/>
                <a:sym typeface="Calibri"/>
              </a:rPr>
              <a:t> Oversampling</a:t>
            </a:r>
            <a:endParaRPr b="0" i="0" sz="1600" u="none" cap="none" strike="noStrike">
              <a:solidFill>
                <a:srgbClr val="9B72C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7"/>
          <p:cNvSpPr/>
          <p:nvPr/>
        </p:nvSpPr>
        <p:spPr>
          <a:xfrm>
            <a:off x="3601925" y="473175"/>
            <a:ext cx="5503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Duplicates minority class samples (Low, High stress) to match majority class (Moderate), eliminating bias toward dominant class</a:t>
            </a:r>
            <a:r>
              <a:rPr lang="en-US" sz="120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120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Scales all features to [0,1] range</a:t>
            </a:r>
            <a:endParaRPr b="0" i="0" sz="1200" u="none" cap="none" strike="noStrike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7"/>
          <p:cNvSpPr/>
          <p:nvPr/>
        </p:nvSpPr>
        <p:spPr>
          <a:xfrm>
            <a:off x="895260" y="4515355"/>
            <a:ext cx="7498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Observation:</a:t>
            </a: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Balancing + normalization dramatically boosts Low-stress recall (up to +54 pp for LR) and moderately improves High-stress recall across all models. 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  <p:pic>
        <p:nvPicPr>
          <p:cNvPr id="197" name="Google Shape;1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975" y="2021750"/>
            <a:ext cx="4213825" cy="199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8500" y="2023675"/>
            <a:ext cx="4115511" cy="199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7"/>
          <p:cNvSpPr txBox="1"/>
          <p:nvPr/>
        </p:nvSpPr>
        <p:spPr>
          <a:xfrm>
            <a:off x="1176875" y="1156663"/>
            <a:ext cx="3542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A86E8"/>
                </a:solidFill>
              </a:rPr>
              <a:t>Low Stress — Recall </a:t>
            </a:r>
            <a:endParaRPr>
              <a:solidFill>
                <a:srgbClr val="4A86E8"/>
              </a:solidFill>
            </a:endParaRPr>
          </a:p>
        </p:txBody>
      </p:sp>
      <p:sp>
        <p:nvSpPr>
          <p:cNvPr id="200" name="Google Shape;200;p17"/>
          <p:cNvSpPr txBox="1"/>
          <p:nvPr/>
        </p:nvSpPr>
        <p:spPr>
          <a:xfrm>
            <a:off x="5715100" y="1149275"/>
            <a:ext cx="2742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A86E8"/>
                </a:solidFill>
              </a:rPr>
              <a:t>High Stress — Recall </a:t>
            </a:r>
            <a:endParaRPr>
              <a:solidFill>
                <a:srgbClr val="4A86E8"/>
              </a:solidFill>
            </a:endParaRPr>
          </a:p>
        </p:txBody>
      </p:sp>
      <p:pic>
        <p:nvPicPr>
          <p:cNvPr id="201" name="Google Shape;201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6175" y="1613863"/>
            <a:ext cx="1327699" cy="27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62950" y="1642375"/>
            <a:ext cx="1218275" cy="27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70300" y="1632225"/>
            <a:ext cx="1327699" cy="27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32525" y="1639638"/>
            <a:ext cx="1218275" cy="27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8"/>
          <p:cNvSpPr/>
          <p:nvPr/>
        </p:nvSpPr>
        <p:spPr>
          <a:xfrm>
            <a:off x="457200" y="-562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46A8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6B46A8"/>
                </a:solidFill>
                <a:latin typeface="Calibri"/>
                <a:ea typeface="Calibri"/>
                <a:cs typeface="Calibri"/>
                <a:sym typeface="Calibri"/>
              </a:rPr>
              <a:t>Hyperparameter Tuning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8"/>
          <p:cNvSpPr/>
          <p:nvPr/>
        </p:nvSpPr>
        <p:spPr>
          <a:xfrm>
            <a:off x="640080" y="583800"/>
            <a:ext cx="786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C9DAF8"/>
                </a:solidFill>
                <a:latin typeface="Calibri"/>
                <a:ea typeface="Calibri"/>
                <a:cs typeface="Calibri"/>
                <a:sym typeface="Calibri"/>
              </a:rPr>
              <a:t>Grid Search to Optimize Minority Class Recall</a:t>
            </a:r>
            <a:endParaRPr b="0" i="0" sz="1600" u="none" cap="none" strike="noStrike">
              <a:solidFill>
                <a:srgbClr val="C9DAF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8"/>
          <p:cNvSpPr/>
          <p:nvPr/>
        </p:nvSpPr>
        <p:spPr>
          <a:xfrm>
            <a:off x="640080" y="1126763"/>
            <a:ext cx="3931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45720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KNN: k Parameter Tuning</a:t>
            </a:r>
            <a:endParaRPr b="0" i="0" sz="1400" u="none" cap="none" strike="noStrike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8"/>
          <p:cNvSpPr/>
          <p:nvPr/>
        </p:nvSpPr>
        <p:spPr>
          <a:xfrm>
            <a:off x="520680" y="4246700"/>
            <a:ext cx="3931800" cy="365700"/>
          </a:xfrm>
          <a:prstGeom prst="rect">
            <a:avLst/>
          </a:prstGeom>
          <a:solidFill>
            <a:srgbClr val="9B72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8"/>
          <p:cNvSpPr/>
          <p:nvPr/>
        </p:nvSpPr>
        <p:spPr>
          <a:xfrm>
            <a:off x="759475" y="4334153"/>
            <a:ext cx="36930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Optimal k = 21 (maximizes minority recall)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8"/>
          <p:cNvSpPr/>
          <p:nvPr/>
        </p:nvSpPr>
        <p:spPr>
          <a:xfrm>
            <a:off x="4937870" y="1173200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45720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Decision Tree: maxDepth Tuning</a:t>
            </a:r>
            <a:endParaRPr b="0" i="0" sz="1400" u="none" cap="none" strike="noStrike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8"/>
          <p:cNvSpPr/>
          <p:nvPr/>
        </p:nvSpPr>
        <p:spPr>
          <a:xfrm>
            <a:off x="5128320" y="4176100"/>
            <a:ext cx="3657600" cy="365700"/>
          </a:xfrm>
          <a:prstGeom prst="rect">
            <a:avLst/>
          </a:prstGeom>
          <a:solidFill>
            <a:srgbClr val="9B72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8"/>
          <p:cNvSpPr/>
          <p:nvPr/>
        </p:nvSpPr>
        <p:spPr>
          <a:xfrm>
            <a:off x="5128323" y="4246708"/>
            <a:ext cx="3474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Optimal maxDepth = 5 (balances recall)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8"/>
          <p:cNvSpPr/>
          <p:nvPr/>
        </p:nvSpPr>
        <p:spPr>
          <a:xfrm>
            <a:off x="640080" y="4708915"/>
            <a:ext cx="786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Logistic Regression: No hyperparameters tuned (learning rate &amp; epochs fixed at 0.01 and 500)</a:t>
            </a:r>
            <a:endParaRPr b="0" i="0" sz="1100" u="none" cap="none" strike="noStrik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8" name="Google Shape;21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825" y="1635975"/>
            <a:ext cx="3875661" cy="2375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28324" y="1638688"/>
            <a:ext cx="3875649" cy="237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0" name="Google Shape;220;p18"/>
          <p:cNvCxnSpPr/>
          <p:nvPr/>
        </p:nvCxnSpPr>
        <p:spPr>
          <a:xfrm flipH="1">
            <a:off x="6268525" y="1782963"/>
            <a:ext cx="16200" cy="200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" name="Google Shape;221;p18"/>
          <p:cNvCxnSpPr/>
          <p:nvPr/>
        </p:nvCxnSpPr>
        <p:spPr>
          <a:xfrm flipH="1">
            <a:off x="3624575" y="1635975"/>
            <a:ext cx="24000" cy="216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2" name="Google Shape;222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9"/>
          <p:cNvSpPr/>
          <p:nvPr/>
        </p:nvSpPr>
        <p:spPr>
          <a:xfrm>
            <a:off x="457225" y="-5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46A8"/>
              </a:buClr>
              <a:buSzPts val="3200"/>
              <a:buFont typeface="Calibri"/>
              <a:buNone/>
            </a:pPr>
            <a:r>
              <a:rPr b="1" i="0" lang="en-US" sz="2900" u="none" cap="none" strike="noStrike">
                <a:solidFill>
                  <a:srgbClr val="6B46A8"/>
                </a:solidFill>
                <a:latin typeface="Calibri"/>
                <a:ea typeface="Calibri"/>
                <a:cs typeface="Calibri"/>
                <a:sym typeface="Calibri"/>
              </a:rPr>
              <a:t>Final Results </a:t>
            </a:r>
            <a:endParaRPr b="0" i="0" sz="2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9"/>
          <p:cNvSpPr/>
          <p:nvPr/>
        </p:nvSpPr>
        <p:spPr>
          <a:xfrm>
            <a:off x="586675" y="538440"/>
            <a:ext cx="79173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400"/>
              <a:buFont typeface="Calibri"/>
              <a:buNone/>
            </a:pPr>
            <a:r>
              <a:rPr b="1" lang="en-US" sz="2200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Act 3: Optimized Models: </a:t>
            </a:r>
            <a:r>
              <a:rPr b="0" i="1" lang="en-US" sz="1400" u="none" cap="none" strike="noStrike">
                <a:solidFill>
                  <a:srgbClr val="B7B7B7"/>
                </a:solidFill>
                <a:latin typeface="Calibri"/>
                <a:ea typeface="Calibri"/>
                <a:cs typeface="Calibri"/>
                <a:sym typeface="Calibri"/>
              </a:rPr>
              <a:t>Balanced + Normalized + Tuned Parameters (maxDepth=5, k=21)</a:t>
            </a:r>
            <a:endParaRPr b="0" i="0" sz="1400" u="none" cap="none" strike="noStrike"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9"/>
          <p:cNvSpPr/>
          <p:nvPr/>
        </p:nvSpPr>
        <p:spPr>
          <a:xfrm>
            <a:off x="457200" y="1280150"/>
            <a:ext cx="8046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Low Stress Recall — Critical Metric for Early Detection</a:t>
            </a:r>
            <a:endParaRPr b="0" i="0" sz="1400" u="none" cap="none" strike="noStrike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9"/>
          <p:cNvSpPr/>
          <p:nvPr/>
        </p:nvSpPr>
        <p:spPr>
          <a:xfrm>
            <a:off x="4769027" y="1280138"/>
            <a:ext cx="4179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High Stress Recall — Essential for Risk Identification</a:t>
            </a:r>
            <a:endParaRPr b="0" i="0" sz="1400" u="none" cap="none" strike="noStrike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  <p:pic>
        <p:nvPicPr>
          <p:cNvPr id="232" name="Google Shape;23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675" y="1914275"/>
            <a:ext cx="4179301" cy="259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3300" y="1914275"/>
            <a:ext cx="4073224" cy="259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19400" y="1658112"/>
            <a:ext cx="39052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9"/>
          <p:cNvSpPr txBox="1"/>
          <p:nvPr/>
        </p:nvSpPr>
        <p:spPr>
          <a:xfrm>
            <a:off x="1230300" y="4506125"/>
            <a:ext cx="68037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5F5F5"/>
                </a:solidFill>
              </a:rPr>
              <a:t>Further tuning (Act 3) closes the gap for DT and KNN on both classes, making all three models competitive, while LR peaks at Act 2 and gains nothing from tuning. </a:t>
            </a:r>
            <a:endParaRPr>
              <a:solidFill>
                <a:srgbClr val="F5F5F5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0"/>
          <p:cNvSpPr/>
          <p:nvPr/>
        </p:nvSpPr>
        <p:spPr>
          <a:xfrm>
            <a:off x="1528945" y="1488799"/>
            <a:ext cx="6086100" cy="8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00" lIns="101425" spcFirstLastPara="1" rIns="101425" wrap="square" tIns="50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81"/>
              <a:buFont typeface="Calibri"/>
              <a:buNone/>
            </a:pPr>
            <a:r>
              <a:rPr b="1" i="0" lang="en-US" sz="488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488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0"/>
          <p:cNvSpPr/>
          <p:nvPr/>
        </p:nvSpPr>
        <p:spPr>
          <a:xfrm>
            <a:off x="1528945" y="2395960"/>
            <a:ext cx="60861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00" lIns="101425" spcFirstLastPara="1" rIns="101425" wrap="square" tIns="50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D9F2"/>
              </a:buClr>
              <a:buSzPts val="2219"/>
              <a:buFont typeface="Calibri"/>
              <a:buNone/>
            </a:pPr>
            <a:r>
              <a:rPr b="0" i="1" lang="en-US" sz="2219" u="none" cap="none" strike="noStrike">
                <a:solidFill>
                  <a:srgbClr val="E5D9F2"/>
                </a:solidFill>
                <a:latin typeface="Calibri"/>
                <a:ea typeface="Calibri"/>
                <a:cs typeface="Calibri"/>
                <a:sym typeface="Calibri"/>
              </a:rPr>
              <a:t>Questions &amp; Discussion</a:t>
            </a:r>
            <a:endParaRPr b="0" i="0" sz="221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1091750" y="3130964"/>
            <a:ext cx="7100400" cy="8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700" lIns="101425" spcFirstLastPara="1" rIns="101425" wrap="square" tIns="50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3"/>
              <a:buFont typeface="Calibri"/>
              <a:buNone/>
            </a:pPr>
            <a:r>
              <a:rPr b="0" i="0" lang="en-US" sz="155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Sadman Sakib • Roll </a:t>
            </a:r>
            <a:r>
              <a:rPr lang="en-US" sz="1553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245406</a:t>
            </a:r>
            <a:br>
              <a:rPr b="0" i="0" lang="en-US" sz="155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55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31"/>
              <a:buFont typeface="Calibri"/>
              <a:buNone/>
            </a:pPr>
            <a:r>
              <a:rPr b="0" i="1" lang="en-US" sz="133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Supervisor: Dr. Emon Kumar Dey</a:t>
            </a:r>
            <a:br>
              <a:rPr b="0" i="1" lang="en-US" sz="133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55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20"/>
              <a:buFont typeface="Calibri"/>
              <a:buNone/>
            </a:pPr>
            <a:r>
              <a:rPr b="0" i="0" lang="en-US" sz="122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Institute of Information Technology, University of Dhaka</a:t>
            </a:r>
            <a:endParaRPr b="0" i="0" sz="155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  <p:sp>
        <p:nvSpPr>
          <p:cNvPr id="244" name="Google Shape;244;p20"/>
          <p:cNvSpPr txBox="1"/>
          <p:nvPr/>
        </p:nvSpPr>
        <p:spPr>
          <a:xfrm>
            <a:off x="1761125" y="803675"/>
            <a:ext cx="66633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9B72CB"/>
                </a:solidFill>
              </a:rPr>
              <a:t>TIME TO PREDICT WITH THE MOST OPTIMIZED MODEL</a:t>
            </a:r>
            <a:endParaRPr sz="1700">
              <a:solidFill>
                <a:srgbClr val="9B72CB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inancial Assembly by Slidesgo">
  <a:themeElements>
    <a:clrScheme name="Simple Light">
      <a:dk1>
        <a:srgbClr val="FFFFFF"/>
      </a:dk1>
      <a:lt1>
        <a:srgbClr val="131313"/>
      </a:lt1>
      <a:dk2>
        <a:srgbClr val="666666"/>
      </a:dk2>
      <a:lt2>
        <a:srgbClr val="B7B7B7"/>
      </a:lt2>
      <a:accent1>
        <a:srgbClr val="EFEFE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